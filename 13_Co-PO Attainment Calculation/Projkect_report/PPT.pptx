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256" r:id="rId2"/>
    <p:sldId id="260" r:id="rId3"/>
    <p:sldId id="258" r:id="rId4"/>
    <p:sldId id="259" r:id="rId5"/>
    <p:sldId id="261" r:id="rId6"/>
    <p:sldId id="272" r:id="rId7"/>
    <p:sldId id="273" r:id="rId8"/>
    <p:sldId id="276" r:id="rId9"/>
    <p:sldId id="274" r:id="rId10"/>
    <p:sldId id="275" r:id="rId11"/>
    <p:sldId id="277" r:id="rId12"/>
    <p:sldId id="278" r:id="rId13"/>
    <p:sldId id="279" r:id="rId14"/>
    <p:sldId id="262" r:id="rId15"/>
    <p:sldId id="270" r:id="rId16"/>
    <p:sldId id="269" r:id="rId17"/>
    <p:sldId id="264" r:id="rId18"/>
    <p:sldId id="265" r:id="rId19"/>
    <p:sldId id="280" r:id="rId20"/>
    <p:sldId id="282" r:id="rId21"/>
    <p:sldId id="281" r:id="rId22"/>
    <p:sldId id="283" r:id="rId23"/>
    <p:sldId id="284" r:id="rId24"/>
    <p:sldId id="285" r:id="rId25"/>
    <p:sldId id="286" r:id="rId26"/>
    <p:sldId id="266" r:id="rId27"/>
    <p:sldId id="271" r:id="rId28"/>
    <p:sldId id="26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varScale="1">
        <p:scale>
          <a:sx n="81" d="100"/>
          <a:sy n="81" d="100"/>
        </p:scale>
        <p:origin x="152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62D84A-7E27-4560-9BA8-75B1E6ED769C}" type="datetimeFigureOut">
              <a:rPr lang="en-US" smtClean="0"/>
              <a:pPr/>
              <a:t>3/28/2026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CF5AD6-4453-474D-8321-53D80CCA97C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521640-7911-4B8D-AE15-AF55460C3DCD}" type="datetime1">
              <a:rPr lang="en-US" smtClean="0"/>
              <a:pPr/>
              <a:t>3/28/2026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lvl1pPr>
              <a:defRPr sz="4000"/>
            </a:lvl1pPr>
          </a:lstStyle>
          <a:p>
            <a:r>
              <a:rPr lang="en-US" dirty="0"/>
              <a:t>Click to edit Master title style</a:t>
            </a:r>
          </a:p>
        </p:txBody>
      </p:sp>
      <p:sp>
        <p:nvSpPr>
          <p:cNvPr id="3" name="Content Placeholder 2"/>
          <p:cNvSpPr>
            <a:spLocks noGrp="1"/>
          </p:cNvSpPr>
          <p:nvPr>
            <p:ph idx="1"/>
          </p:nvPr>
        </p:nvSpPr>
        <p:spPr>
          <a:xfrm>
            <a:off x="457200" y="990600"/>
            <a:ext cx="8229600" cy="533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dirty="0"/>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8FB590-3A47-476B-AA82-F695C141F056}" type="datetime1">
              <a:rPr lang="en-US" smtClean="0"/>
              <a:pPr/>
              <a:t>3/28/2026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354825-3872-4847-83B3-EE47039F94C7}" type="datetime1">
              <a:rPr lang="en-US" smtClean="0"/>
              <a:pPr/>
              <a:t>3/28/2026</a:t>
            </a:fld>
            <a:endParaRPr lang="en-US"/>
          </a:p>
        </p:txBody>
      </p:sp>
      <p:sp>
        <p:nvSpPr>
          <p:cNvPr id="6" name="Footer Placeholder 5"/>
          <p:cNvSpPr>
            <a:spLocks noGrp="1"/>
          </p:cNvSpPr>
          <p:nvPr>
            <p:ph type="ftr" sz="quarter" idx="11"/>
          </p:nvPr>
        </p:nvSpPr>
        <p:spPr/>
        <p:txBody>
          <a:bodyPr/>
          <a:lstStyle/>
          <a:p>
            <a:r>
              <a:rPr lang="en-US"/>
              <a:t>CPE – 22060 Presentation</a:t>
            </a:r>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EA63EB-75C0-4B01-AF22-F0D92001811C}" type="datetime1">
              <a:rPr lang="en-US" smtClean="0"/>
              <a:pPr/>
              <a:t>3/28/2026</a:t>
            </a:fld>
            <a:endParaRPr lang="en-US"/>
          </a:p>
        </p:txBody>
      </p:sp>
      <p:sp>
        <p:nvSpPr>
          <p:cNvPr id="8" name="Footer Placeholder 7"/>
          <p:cNvSpPr>
            <a:spLocks noGrp="1"/>
          </p:cNvSpPr>
          <p:nvPr>
            <p:ph type="ftr" sz="quarter" idx="11"/>
          </p:nvPr>
        </p:nvSpPr>
        <p:spPr/>
        <p:txBody>
          <a:bodyPr/>
          <a:lstStyle/>
          <a:p>
            <a:r>
              <a:rPr lang="en-US"/>
              <a:t>CPE – 22060 Presentation</a:t>
            </a:r>
          </a:p>
        </p:txBody>
      </p:sp>
      <p:sp>
        <p:nvSpPr>
          <p:cNvPr id="9" name="Slide Number Placeholder 8"/>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33659F-D2EA-48AC-B6C8-E57104AE2B45}" type="datetime1">
              <a:rPr lang="en-US" smtClean="0"/>
              <a:pPr/>
              <a:t>3/28/2026</a:t>
            </a:fld>
            <a:endParaRPr lang="en-US"/>
          </a:p>
        </p:txBody>
      </p:sp>
      <p:sp>
        <p:nvSpPr>
          <p:cNvPr id="4" name="Footer Placeholder 3"/>
          <p:cNvSpPr>
            <a:spLocks noGrp="1"/>
          </p:cNvSpPr>
          <p:nvPr>
            <p:ph type="ftr" sz="quarter" idx="11"/>
          </p:nvPr>
        </p:nvSpPr>
        <p:spPr/>
        <p:txBody>
          <a:bodyPr/>
          <a:lstStyle/>
          <a:p>
            <a:r>
              <a:rPr lang="en-US"/>
              <a:t>CPE – 22060 Presentation</a:t>
            </a:r>
          </a:p>
        </p:txBody>
      </p:sp>
      <p:sp>
        <p:nvSpPr>
          <p:cNvPr id="5" name="Slide Number Placeholder 4"/>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70E31A-B5C5-4FB6-A613-C9C80E2F3499}" type="datetime1">
              <a:rPr lang="en-US" smtClean="0"/>
              <a:pPr/>
              <a:t>3/28/2026</a:t>
            </a:fld>
            <a:endParaRPr lang="en-US"/>
          </a:p>
        </p:txBody>
      </p:sp>
      <p:sp>
        <p:nvSpPr>
          <p:cNvPr id="3" name="Footer Placeholder 2"/>
          <p:cNvSpPr>
            <a:spLocks noGrp="1"/>
          </p:cNvSpPr>
          <p:nvPr>
            <p:ph type="ftr" sz="quarter" idx="11"/>
          </p:nvPr>
        </p:nvSpPr>
        <p:spPr/>
        <p:txBody>
          <a:bodyPr/>
          <a:lstStyle/>
          <a:p>
            <a:r>
              <a:rPr lang="en-US"/>
              <a:t>CPE – 22060 Presentation</a:t>
            </a:r>
          </a:p>
        </p:txBody>
      </p:sp>
      <p:sp>
        <p:nvSpPr>
          <p:cNvPr id="4" name="Slide Number Placeholder 3"/>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840BC-A573-498A-B5AD-91A539E12F2A}" type="datetime1">
              <a:rPr lang="en-US" smtClean="0"/>
              <a:pPr/>
              <a:t>3/28/2026</a:t>
            </a:fld>
            <a:endParaRPr lang="en-US"/>
          </a:p>
        </p:txBody>
      </p:sp>
      <p:sp>
        <p:nvSpPr>
          <p:cNvPr id="6" name="Footer Placeholder 5"/>
          <p:cNvSpPr>
            <a:spLocks noGrp="1"/>
          </p:cNvSpPr>
          <p:nvPr>
            <p:ph type="ftr" sz="quarter" idx="11"/>
          </p:nvPr>
        </p:nvSpPr>
        <p:spPr/>
        <p:txBody>
          <a:bodyPr/>
          <a:lstStyle/>
          <a:p>
            <a:r>
              <a:rPr lang="en-US"/>
              <a:t>CPE – 22060 Presentation</a:t>
            </a:r>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3FB9E3-55BC-4D2F-BEA3-8137623812FA}" type="datetime1">
              <a:rPr lang="en-US" smtClean="0"/>
              <a:pPr/>
              <a:t>3/28/2026</a:t>
            </a:fld>
            <a:endParaRPr lang="en-US"/>
          </a:p>
        </p:txBody>
      </p:sp>
      <p:sp>
        <p:nvSpPr>
          <p:cNvPr id="6" name="Footer Placeholder 5"/>
          <p:cNvSpPr>
            <a:spLocks noGrp="1"/>
          </p:cNvSpPr>
          <p:nvPr>
            <p:ph type="ftr" sz="quarter" idx="11"/>
          </p:nvPr>
        </p:nvSpPr>
        <p:spPr/>
        <p:txBody>
          <a:bodyPr/>
          <a:lstStyle/>
          <a:p>
            <a:r>
              <a:rPr lang="en-US"/>
              <a:t>CPE – 22060 Presentation</a:t>
            </a:r>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9F7437-9915-41E3-8F01-B86D5322220A}" type="datetime1">
              <a:rPr lang="en-US" smtClean="0"/>
              <a:pPr/>
              <a:t>3/28/2026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FBB1FE-9659-4B62-83FD-0B1FDB4E6318}" type="datetime1">
              <a:rPr lang="en-US" smtClean="0"/>
              <a:pPr/>
              <a:t>3/28/2026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868362"/>
          </a:xfrm>
          <a:prstGeom prst="rect">
            <a:avLst/>
          </a:prstGeom>
        </p:spPr>
        <p:style>
          <a:lnRef idx="2">
            <a:schemeClr val="accent1"/>
          </a:lnRef>
          <a:fillRef idx="1">
            <a:schemeClr val="lt1"/>
          </a:fillRef>
          <a:effectRef idx="0">
            <a:schemeClr val="accent1"/>
          </a:effectRef>
          <a:fontRef idx="none"/>
        </p:style>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19200"/>
            <a:ext cx="8229600" cy="5105400"/>
          </a:xfrm>
          <a:prstGeom prst="rect">
            <a:avLst/>
          </a:prstGeom>
        </p:spPr>
        <p:style>
          <a:lnRef idx="2">
            <a:schemeClr val="accent1"/>
          </a:lnRef>
          <a:fillRef idx="1">
            <a:schemeClr val="lt1"/>
          </a:fillRef>
          <a:effectRef idx="0">
            <a:schemeClr val="accent1"/>
          </a:effectRef>
          <a:fontRef idx="none"/>
        </p:style>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973F8-FEE5-4126-B476-687ACF2D0C92}" type="datetime1">
              <a:rPr lang="en-US" smtClean="0"/>
              <a:pPr/>
              <a:t>3/28/2026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CPE – 22060 Presentation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F1F8D0-972F-472E-AFE5-1F27E299DB0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qlite3.com/docs/" TargetMode="External"/><Relationship Id="rId2" Type="http://schemas.openxmlformats.org/officeDocument/2006/relationships/hyperlink" Target="https://www.python.org/doc/"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943361856"/>
              </p:ext>
            </p:extLst>
          </p:nvPr>
        </p:nvGraphicFramePr>
        <p:xfrm>
          <a:off x="228600" y="228600"/>
          <a:ext cx="8686800" cy="6492413"/>
        </p:xfrm>
        <a:graphic>
          <a:graphicData uri="http://schemas.openxmlformats.org/drawingml/2006/table">
            <a:tbl>
              <a:tblPr firstRow="1" bandRow="1">
                <a:tableStyleId>{5940675A-B579-460E-94D1-54222C63F5DA}</a:tableStyleId>
              </a:tblPr>
              <a:tblGrid>
                <a:gridCol w="2332566">
                  <a:extLst>
                    <a:ext uri="{9D8B030D-6E8A-4147-A177-3AD203B41FA5}">
                      <a16:colId xmlns:a16="http://schemas.microsoft.com/office/drawing/2014/main" val="20000"/>
                    </a:ext>
                  </a:extLst>
                </a:gridCol>
                <a:gridCol w="2925234">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1676400">
                <a:tc>
                  <a:txBody>
                    <a:bodyPr/>
                    <a:lstStyle/>
                    <a:p>
                      <a:pPr algn="ctr"/>
                      <a:endParaRPr lang="en-US" sz="2200" dirty="0">
                        <a:solidFill>
                          <a:schemeClr val="bg1"/>
                        </a:solidFill>
                      </a:endParaRPr>
                    </a:p>
                  </a:txBody>
                  <a:tcPr>
                    <a:solidFill>
                      <a:schemeClr val="accent5">
                        <a:lumMod val="60000"/>
                        <a:lumOff val="40000"/>
                      </a:schemeClr>
                    </a:solid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tx1"/>
                          </a:solidFill>
                        </a:rPr>
                        <a:t>S.S.V.P.S’s B. S. </a:t>
                      </a:r>
                      <a:r>
                        <a:rPr lang="en-US" sz="2800" baseline="0" dirty="0" err="1">
                          <a:solidFill>
                            <a:schemeClr val="tx1"/>
                          </a:solidFill>
                        </a:rPr>
                        <a:t>Deore</a:t>
                      </a:r>
                      <a:r>
                        <a:rPr lang="en-US" sz="2800" baseline="0" dirty="0">
                          <a:solidFill>
                            <a:schemeClr val="tx1"/>
                          </a:solidFill>
                        </a:rPr>
                        <a:t> Polytechnic, </a:t>
                      </a:r>
                      <a:r>
                        <a:rPr lang="en-US" sz="2800" baseline="0" dirty="0" err="1">
                          <a:solidFill>
                            <a:schemeClr val="tx1"/>
                          </a:solidFill>
                        </a:rPr>
                        <a:t>Dhule</a:t>
                      </a:r>
                      <a:endParaRPr lang="en-US" sz="2800" b="1" dirty="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3000" b="1" dirty="0">
                          <a:solidFill>
                            <a:schemeClr val="tx1"/>
                          </a:solidFill>
                        </a:rPr>
                        <a:t>Department of Computer Engineering</a:t>
                      </a:r>
                    </a:p>
                    <a:p>
                      <a:pPr algn="ctr">
                        <a:lnSpc>
                          <a:spcPct val="100000"/>
                        </a:lnSpc>
                        <a:spcBef>
                          <a:spcPts val="0"/>
                        </a:spcBef>
                      </a:pPr>
                      <a:r>
                        <a:rPr lang="en-US" sz="2400" i="1" baseline="0" dirty="0">
                          <a:solidFill>
                            <a:schemeClr val="tx1"/>
                          </a:solidFill>
                        </a:rPr>
                        <a:t>Academic Year : 2025 – 2026</a:t>
                      </a:r>
                    </a:p>
                  </a:txBody>
                  <a:tcPr>
                    <a:solidFill>
                      <a:schemeClr val="accent5">
                        <a:lumMod val="60000"/>
                        <a:lumOff val="40000"/>
                      </a:schemeClr>
                    </a:solidFill>
                  </a:tcPr>
                </a:tc>
                <a:tc hMerge="1">
                  <a:txBody>
                    <a:bodyPr/>
                    <a:lstStyle/>
                    <a:p>
                      <a:endParaRPr lang="en-US"/>
                    </a:p>
                  </a:txBody>
                  <a:tcPr/>
                </a:tc>
                <a:extLst>
                  <a:ext uri="{0D108BD9-81ED-4DB2-BD59-A6C34878D82A}">
                    <a16:rowId xmlns:a16="http://schemas.microsoft.com/office/drawing/2014/main" val="10000"/>
                  </a:ext>
                </a:extLst>
              </a:tr>
              <a:tr h="625925">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t>Presentation</a:t>
                      </a:r>
                      <a:r>
                        <a:rPr lang="en-US" sz="2800" baseline="0" dirty="0"/>
                        <a:t> o</a:t>
                      </a:r>
                      <a:r>
                        <a:rPr lang="en-US" sz="2800" dirty="0"/>
                        <a:t>n Capstone</a:t>
                      </a:r>
                      <a:r>
                        <a:rPr lang="en-US" sz="2800" baseline="0" dirty="0"/>
                        <a:t> Project Execution (CPE–316004)</a:t>
                      </a:r>
                      <a:endParaRPr lang="en-US" sz="2200" b="1" dirty="0">
                        <a:solidFill>
                          <a:srgbClr val="0000CC"/>
                        </a:solidFill>
                      </a:endParaRPr>
                    </a:p>
                  </a:txBody>
                  <a:tcPr/>
                </a:tc>
                <a:tc hMerge="1">
                  <a:txBody>
                    <a:bodyPr/>
                    <a:lstStyle/>
                    <a:p>
                      <a:endParaRPr lang="en-US" sz="2200" dirty="0"/>
                    </a:p>
                  </a:txBody>
                  <a:tcPr/>
                </a:tc>
                <a:tc hMerge="1">
                  <a:txBody>
                    <a:bodyPr/>
                    <a:lstStyle/>
                    <a:p>
                      <a:endParaRPr lang="en-US"/>
                    </a:p>
                  </a:txBody>
                  <a:tcPr/>
                </a:tc>
                <a:extLst>
                  <a:ext uri="{0D108BD9-81ED-4DB2-BD59-A6C34878D82A}">
                    <a16:rowId xmlns:a16="http://schemas.microsoft.com/office/drawing/2014/main" val="10001"/>
                  </a:ext>
                </a:extLst>
              </a:tr>
              <a:tr h="515468">
                <a:tc>
                  <a:txBody>
                    <a:bodyPr/>
                    <a:lstStyle/>
                    <a:p>
                      <a:r>
                        <a:rPr lang="en-US" sz="2200" b="1" dirty="0"/>
                        <a:t>Topic</a:t>
                      </a:r>
                    </a:p>
                  </a:txBody>
                  <a:tcPr/>
                </a:tc>
                <a:tc gridSpan="2">
                  <a:txBody>
                    <a:bodyPr/>
                    <a:lstStyle/>
                    <a:p>
                      <a:r>
                        <a:rPr lang="en-US" sz="2200" dirty="0">
                          <a:solidFill>
                            <a:srgbClr val="FF0000"/>
                          </a:solidFill>
                        </a:rPr>
                        <a:t>Co Attainment Calculation For Outcome Based Education</a:t>
                      </a:r>
                    </a:p>
                    <a:p>
                      <a:endParaRPr lang="en-US" sz="2200" dirty="0">
                        <a:solidFill>
                          <a:srgbClr val="FF0000"/>
                        </a:solidFill>
                      </a:endParaRPr>
                    </a:p>
                  </a:txBody>
                  <a:tcPr/>
                </a:tc>
                <a:tc hMerge="1">
                  <a:txBody>
                    <a:bodyPr/>
                    <a:lstStyle/>
                    <a:p>
                      <a:endParaRPr lang="en-US"/>
                    </a:p>
                  </a:txBody>
                  <a:tcPr/>
                </a:tc>
                <a:extLst>
                  <a:ext uri="{0D108BD9-81ED-4DB2-BD59-A6C34878D82A}">
                    <a16:rowId xmlns:a16="http://schemas.microsoft.com/office/drawing/2014/main" val="10002"/>
                  </a:ext>
                </a:extLst>
              </a:tr>
              <a:tr h="515468">
                <a:tc rowSpan="4">
                  <a:txBody>
                    <a:bodyPr/>
                    <a:lstStyle/>
                    <a:p>
                      <a:r>
                        <a:rPr lang="en-US" sz="2200" b="1" dirty="0"/>
                        <a:t>Presented</a:t>
                      </a:r>
                      <a:r>
                        <a:rPr lang="en-US" sz="2200" b="1" baseline="0" dirty="0"/>
                        <a:t> by </a:t>
                      </a:r>
                      <a:endParaRPr lang="en-US" sz="2200" b="1" dirty="0"/>
                    </a:p>
                  </a:txBody>
                  <a:tcPr/>
                </a:tc>
                <a:tc gridSpan="2">
                  <a:txBody>
                    <a:bodyPr/>
                    <a:lstStyle/>
                    <a:p>
                      <a:r>
                        <a:rPr lang="en-US" sz="2200" dirty="0"/>
                        <a:t>1.Ruchika Dilip Patil.</a:t>
                      </a:r>
                    </a:p>
                  </a:txBody>
                  <a:tcPr/>
                </a:tc>
                <a:tc hMerge="1">
                  <a:txBody>
                    <a:bodyPr/>
                    <a:lstStyle/>
                    <a:p>
                      <a:endParaRPr lang="en-US"/>
                    </a:p>
                  </a:txBody>
                  <a:tcPr/>
                </a:tc>
                <a:extLst>
                  <a:ext uri="{0D108BD9-81ED-4DB2-BD59-A6C34878D82A}">
                    <a16:rowId xmlns:a16="http://schemas.microsoft.com/office/drawing/2014/main" val="10003"/>
                  </a:ext>
                </a:extLst>
              </a:tr>
              <a:tr h="515468">
                <a:tc vMerge="1">
                  <a:txBody>
                    <a:bodyPr/>
                    <a:lstStyle/>
                    <a:p>
                      <a:endParaRPr lang="en-US" sz="2200" dirty="0"/>
                    </a:p>
                  </a:txBody>
                  <a:tcPr/>
                </a:tc>
                <a:tc gridSpan="2">
                  <a:txBody>
                    <a:bodyPr/>
                    <a:lstStyle/>
                    <a:p>
                      <a:r>
                        <a:rPr lang="en-US" sz="2200" dirty="0"/>
                        <a:t>2.Krishna VinodKumar Popali.</a:t>
                      </a:r>
                    </a:p>
                  </a:txBody>
                  <a:tcPr/>
                </a:tc>
                <a:tc hMerge="1">
                  <a:txBody>
                    <a:bodyPr/>
                    <a:lstStyle/>
                    <a:p>
                      <a:endParaRPr lang="en-US"/>
                    </a:p>
                  </a:txBody>
                  <a:tcPr/>
                </a:tc>
                <a:extLst>
                  <a:ext uri="{0D108BD9-81ED-4DB2-BD59-A6C34878D82A}">
                    <a16:rowId xmlns:a16="http://schemas.microsoft.com/office/drawing/2014/main" val="10004"/>
                  </a:ext>
                </a:extLst>
              </a:tr>
              <a:tr h="515468">
                <a:tc vMerge="1">
                  <a:txBody>
                    <a:bodyPr/>
                    <a:lstStyle/>
                    <a:p>
                      <a:endParaRPr lang="en-US" sz="2200" dirty="0"/>
                    </a:p>
                  </a:txBody>
                  <a:tcPr/>
                </a:tc>
                <a:tc gridSpan="2">
                  <a:txBody>
                    <a:bodyPr/>
                    <a:lstStyle/>
                    <a:p>
                      <a:r>
                        <a:rPr lang="en-US" sz="2200" dirty="0"/>
                        <a:t>3.Aman Anjum Iqbal Shaikh.</a:t>
                      </a:r>
                    </a:p>
                  </a:txBody>
                  <a:tcPr/>
                </a:tc>
                <a:tc hMerge="1">
                  <a:txBody>
                    <a:bodyPr/>
                    <a:lstStyle/>
                    <a:p>
                      <a:endParaRPr lang="en-US"/>
                    </a:p>
                  </a:txBody>
                  <a:tcPr/>
                </a:tc>
                <a:extLst>
                  <a:ext uri="{0D108BD9-81ED-4DB2-BD59-A6C34878D82A}">
                    <a16:rowId xmlns:a16="http://schemas.microsoft.com/office/drawing/2014/main" val="10005"/>
                  </a:ext>
                </a:extLst>
              </a:tr>
              <a:tr h="515468">
                <a:tc vMerge="1">
                  <a:txBody>
                    <a:bodyPr/>
                    <a:lstStyle/>
                    <a:p>
                      <a:endParaRPr lang="en-US" sz="2200" dirty="0"/>
                    </a:p>
                  </a:txBody>
                  <a:tcPr/>
                </a:tc>
                <a:tc gridSpan="2">
                  <a:txBody>
                    <a:bodyPr/>
                    <a:lstStyle/>
                    <a:p>
                      <a:r>
                        <a:rPr lang="en-US" sz="2200" dirty="0"/>
                        <a:t>4.Suvarna Mahendra Sonawane.</a:t>
                      </a:r>
                    </a:p>
                  </a:txBody>
                  <a:tcPr/>
                </a:tc>
                <a:tc hMerge="1">
                  <a:txBody>
                    <a:bodyPr/>
                    <a:lstStyle/>
                    <a:p>
                      <a:endParaRPr lang="en-US"/>
                    </a:p>
                  </a:txBody>
                  <a:tcPr/>
                </a:tc>
                <a:extLst>
                  <a:ext uri="{0D108BD9-81ED-4DB2-BD59-A6C34878D82A}">
                    <a16:rowId xmlns:a16="http://schemas.microsoft.com/office/drawing/2014/main" val="10006"/>
                  </a:ext>
                </a:extLst>
              </a:tr>
              <a:tr h="515468">
                <a:tc>
                  <a:txBody>
                    <a:bodyPr/>
                    <a:lstStyle/>
                    <a:p>
                      <a:r>
                        <a:rPr lang="en-US" sz="2200" b="1" dirty="0"/>
                        <a:t>Guided by</a:t>
                      </a:r>
                      <a:r>
                        <a:rPr lang="en-US" sz="2200" b="1" baseline="0" dirty="0"/>
                        <a:t> </a:t>
                      </a:r>
                      <a:endParaRPr lang="en-US" sz="2200" b="1" dirty="0"/>
                    </a:p>
                  </a:txBody>
                  <a:tcPr/>
                </a:tc>
                <a:tc gridSpan="2">
                  <a:txBody>
                    <a:bodyPr/>
                    <a:lstStyle/>
                    <a:p>
                      <a:r>
                        <a:rPr lang="en-US" sz="2200" dirty="0"/>
                        <a:t> Ms. Chaitali S. Patil</a:t>
                      </a:r>
                    </a:p>
                  </a:txBody>
                  <a:tcPr/>
                </a:tc>
                <a:tc hMerge="1">
                  <a:txBody>
                    <a:bodyPr/>
                    <a:lstStyle/>
                    <a:p>
                      <a:endParaRPr lang="en-US"/>
                    </a:p>
                  </a:txBody>
                  <a:tcPr/>
                </a:tc>
                <a:extLst>
                  <a:ext uri="{0D108BD9-81ED-4DB2-BD59-A6C34878D82A}">
                    <a16:rowId xmlns:a16="http://schemas.microsoft.com/office/drawing/2014/main" val="10007"/>
                  </a:ext>
                </a:extLst>
              </a:tr>
              <a:tr h="515468">
                <a:tc>
                  <a:txBody>
                    <a:bodyPr/>
                    <a:lstStyle/>
                    <a:p>
                      <a:r>
                        <a:rPr lang="en-US" sz="2200" b="1" dirty="0"/>
                        <a:t>Semester</a:t>
                      </a:r>
                    </a:p>
                  </a:txBody>
                  <a:tcPr/>
                </a:tc>
                <a:tc>
                  <a:txBody>
                    <a:bodyPr/>
                    <a:lstStyle/>
                    <a:p>
                      <a:r>
                        <a:rPr lang="en-US" sz="2200" b="1" dirty="0"/>
                        <a:t>Sixth</a:t>
                      </a:r>
                      <a:r>
                        <a:rPr lang="en-US" sz="2200" b="1" baseline="0" dirty="0"/>
                        <a:t> (K Scheme)</a:t>
                      </a:r>
                      <a:endParaRPr lang="en-US" sz="2200" b="1" dirty="0"/>
                    </a:p>
                  </a:txBody>
                  <a:tcPr/>
                </a:tc>
                <a:tc>
                  <a:txBody>
                    <a:bodyPr/>
                    <a:lstStyle/>
                    <a:p>
                      <a:pPr algn="l"/>
                      <a:r>
                        <a:rPr lang="en-US" sz="2200" b="1" dirty="0"/>
                        <a:t>Date</a:t>
                      </a:r>
                      <a:r>
                        <a:rPr lang="en-US" sz="2200" b="1" baseline="0" dirty="0"/>
                        <a:t>  ://2026</a:t>
                      </a:r>
                      <a:endParaRPr lang="en-US" sz="2200" b="1" dirty="0"/>
                    </a:p>
                  </a:txBody>
                  <a:tcPr/>
                </a:tc>
                <a:extLst>
                  <a:ext uri="{0D108BD9-81ED-4DB2-BD59-A6C34878D82A}">
                    <a16:rowId xmlns:a16="http://schemas.microsoft.com/office/drawing/2014/main" val="10008"/>
                  </a:ext>
                </a:extLst>
              </a:tr>
            </a:tbl>
          </a:graphicData>
        </a:graphic>
      </p:graphicFrame>
      <p:pic>
        <p:nvPicPr>
          <p:cNvPr id="16" name="Picture 15" descr="ssvpslogo.png"/>
          <p:cNvPicPr>
            <a:picLocks noChangeAspect="1"/>
          </p:cNvPicPr>
          <p:nvPr/>
        </p:nvPicPr>
        <p:blipFill>
          <a:blip r:embed="rId2"/>
          <a:stretch>
            <a:fillRect/>
          </a:stretch>
        </p:blipFill>
        <p:spPr>
          <a:xfrm>
            <a:off x="609600" y="304800"/>
            <a:ext cx="1143000" cy="150394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Abstract</a:t>
            </a:r>
          </a:p>
        </p:txBody>
      </p:sp>
      <p:sp>
        <p:nvSpPr>
          <p:cNvPr id="3" name="Content Placeholder 2"/>
          <p:cNvSpPr>
            <a:spLocks noGrp="1"/>
          </p:cNvSpPr>
          <p:nvPr>
            <p:ph idx="1"/>
          </p:nvPr>
        </p:nvSpPr>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This project presents a system that will support continuous academic evaluation during the ongoing teaching process. The system will enable teachers to submit assessment data through a centralized platform, where performance levels will be processed using predefined rubrics. Based on this evaluation, the system will identify attainment status and highlight the gap between expected and achieved outcomes. The generated results will be presented in a structured report format, allowing timely review within the same academic Assessment. By providing immediate analytical feedback, the system will support informed academic decisions and will help faculty focus on improving instructional effectiveness rather than manual data processing.</a:t>
            </a:r>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dirty="0"/>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dirty="0"/>
              <a:t>Content</a:t>
            </a:r>
          </a:p>
        </p:txBody>
      </p:sp>
      <p:sp>
        <p:nvSpPr>
          <p:cNvPr id="3" name="Content Placeholder 2"/>
          <p:cNvSpPr>
            <a:spLocks noGrp="1"/>
          </p:cNvSpPr>
          <p:nvPr>
            <p:ph idx="1"/>
          </p:nvPr>
        </p:nvSpPr>
        <p:spPr>
          <a:xfrm>
            <a:off x="457200" y="990600"/>
            <a:ext cx="8229600" cy="5410200"/>
          </a:xfrm>
        </p:spPr>
        <p:txBody>
          <a:bodyPr>
            <a:normAutofit/>
          </a:bodyPr>
          <a:lstStyle/>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Introduction  (background of the industry or used based problem / task)</a:t>
            </a:r>
          </a:p>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Literature Survey </a:t>
            </a:r>
          </a:p>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Scope of the project </a:t>
            </a:r>
          </a:p>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Methodology </a:t>
            </a:r>
          </a:p>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Details of designs, working and processes</a:t>
            </a:r>
          </a:p>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Results and applications</a:t>
            </a:r>
          </a:p>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Conclusion and future scope</a:t>
            </a:r>
          </a:p>
          <a:p>
            <a:pPr marL="914400" lvl="0" indent="-914400">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References and Bibliography</a:t>
            </a:r>
          </a:p>
        </p:txBody>
      </p:sp>
      <p:sp>
        <p:nvSpPr>
          <p:cNvPr id="4" name="Date Placeholder 3"/>
          <p:cNvSpPr>
            <a:spLocks noGrp="1"/>
          </p:cNvSpPr>
          <p:nvPr>
            <p:ph type="dt" sz="half" idx="10"/>
          </p:nvPr>
        </p:nvSpPr>
        <p:spPr/>
        <p:txBody>
          <a:bodyPr/>
          <a:lstStyle/>
          <a:p>
            <a:fld id="{31A345D7-6F53-4EAB-A205-25A2EFE10C3F}" type="datetime1">
              <a:rPr lang="en-US" smtClean="0"/>
              <a:pPr/>
              <a:t>3/28/2026</a:t>
            </a:fld>
            <a:endParaRPr lang="en-US"/>
          </a:p>
        </p:txBody>
      </p:sp>
      <p:sp>
        <p:nvSpPr>
          <p:cNvPr id="5" name="Slide Number Placeholder 4"/>
          <p:cNvSpPr>
            <a:spLocks noGrp="1"/>
          </p:cNvSpPr>
          <p:nvPr>
            <p:ph type="sldNum" sz="quarter" idx="12"/>
          </p:nvPr>
        </p:nvSpPr>
        <p:spPr/>
        <p:txBody>
          <a:bodyPr/>
          <a:lstStyle/>
          <a:p>
            <a:fld id="{4AF1F8D0-972F-472E-AFE5-1F27E299DB0B}" type="slidenum">
              <a:rPr lang="en-US" smtClean="0"/>
              <a:pPr/>
              <a:t>3</a:t>
            </a:fld>
            <a:endParaRPr lang="en-US"/>
          </a:p>
        </p:txBody>
      </p:sp>
      <p:sp>
        <p:nvSpPr>
          <p:cNvPr id="6" name="Footer Placeholder 5"/>
          <p:cNvSpPr>
            <a:spLocks noGrp="1"/>
          </p:cNvSpPr>
          <p:nvPr>
            <p:ph type="ftr" sz="quarter" idx="11"/>
          </p:nvPr>
        </p:nvSpPr>
        <p:spPr/>
        <p:txBody>
          <a:bodyPr/>
          <a:lstStyle/>
          <a:p>
            <a:r>
              <a:rPr lang="en-US"/>
              <a:t>CPE – 22060 Presentation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 Introduction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academic institutions, the evaluation of student performance requires systematic analysis to understand learning effectiveness. Traditionally, this evaluation process involved maintaining student assessment records separately and performing calculations after completion of assessments. Such practices limited the ability to observe performance trends during the teaching period. Since the evaluation was carried out at a later stage, instructors had minimal opportunity to adjust teaching strategies for the same group of students. Additionally, the dependence on manual record handling increased processing time and reduced efficiency. These challenges highlight the importance of adopting structured mechanisms that support timely performance analysis and enable instructional refinement within the academic term.</a:t>
            </a:r>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dirty="0"/>
              <a:t>CPE – </a:t>
            </a:r>
            <a:r>
              <a:rPr lang="en-IN" dirty="0"/>
              <a:t> 316004</a:t>
            </a:r>
            <a:r>
              <a:rPr lang="en-US" dirty="0"/>
              <a:t>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Literature Review</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Earlier studies show that many institutions calculate attainment levels using spreadsheet-based methods. In this process, teachers manually enter student marks and later calculate attainment values and performance gaps. This calculation is usually done after completing all assessments of the course. Because of this delay, teachers cannot explain the results or the identified gaps to the current batch of students during the same academic term. The analysis becomes useful mainly for the next batch, where teachers can plan assignments or improvements based on the previously identified gaps. However, the current batch does not get immediate feedback about their performance or the areas where improvement is required. This limitation highlights the need for a system that can provide timely analysis and support better academic monitoring.</a:t>
            </a:r>
            <a:endParaRPr lang="en-US" sz="1800" dirty="0"/>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dirty="0"/>
              <a:t>CPE –</a:t>
            </a:r>
            <a:r>
              <a:rPr lang="en-IN" dirty="0"/>
              <a:t> 316004</a:t>
            </a:r>
            <a:r>
              <a:rPr lang="en-US" dirty="0"/>
              <a:t>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8E681-6EDD-17B6-058B-D476B5375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366B0-0680-0AA0-219E-92B666C94A2C}"/>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B41683AE-0D67-5962-3381-26C134D6ABB0}"/>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CE91654D-BBCE-9D94-A39C-48E9778DCCF3}"/>
              </a:ext>
            </a:extLst>
          </p:cNvPr>
          <p:cNvSpPr>
            <a:spLocks noGrp="1"/>
          </p:cNvSpPr>
          <p:nvPr>
            <p:ph type="ftr" sz="quarter" idx="11"/>
          </p:nvPr>
        </p:nvSpPr>
        <p:spPr/>
        <p:txBody>
          <a:bodyPr/>
          <a:lstStyle/>
          <a:p>
            <a:r>
              <a:rPr lang="en-US" dirty="0"/>
              <a:t>CPE – </a:t>
            </a:r>
            <a:r>
              <a:rPr lang="en-IN" dirty="0"/>
              <a:t>316004</a:t>
            </a:r>
            <a:r>
              <a:rPr lang="en-US" dirty="0"/>
              <a:t> Presentation</a:t>
            </a:r>
          </a:p>
        </p:txBody>
      </p:sp>
      <p:sp>
        <p:nvSpPr>
          <p:cNvPr id="6" name="Slide Number Placeholder 5">
            <a:extLst>
              <a:ext uri="{FF2B5EF4-FFF2-40B4-BE49-F238E27FC236}">
                <a16:creationId xmlns:a16="http://schemas.microsoft.com/office/drawing/2014/main" id="{D240193B-6778-8553-1F63-C1112088C921}"/>
              </a:ext>
            </a:extLst>
          </p:cNvPr>
          <p:cNvSpPr>
            <a:spLocks noGrp="1"/>
          </p:cNvSpPr>
          <p:nvPr>
            <p:ph type="sldNum" sz="quarter" idx="12"/>
          </p:nvPr>
        </p:nvSpPr>
        <p:spPr/>
        <p:txBody>
          <a:bodyPr/>
          <a:lstStyle/>
          <a:p>
            <a:fld id="{4AF1F8D0-972F-472E-AFE5-1F27E299DB0B}" type="slidenum">
              <a:rPr lang="en-US" smtClean="0"/>
              <a:pPr/>
              <a:t>6</a:t>
            </a:fld>
            <a:endParaRPr lang="en-US"/>
          </a:p>
        </p:txBody>
      </p:sp>
      <p:pic>
        <p:nvPicPr>
          <p:cNvPr id="12" name="Content Placeholder 11">
            <a:extLst>
              <a:ext uri="{FF2B5EF4-FFF2-40B4-BE49-F238E27FC236}">
                <a16:creationId xmlns:a16="http://schemas.microsoft.com/office/drawing/2014/main" id="{388B25F5-F2FA-D688-D416-B0B6B003C50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62200" y="1212427"/>
            <a:ext cx="4082143" cy="4870080"/>
          </a:xfrm>
          <a:prstGeom prst="rect">
            <a:avLst/>
          </a:prstGeom>
          <a:solidFill>
            <a:prstClr val="white"/>
          </a:solidFill>
          <a:ln w="25400" cap="flat" cmpd="sng" algn="ctr">
            <a:solidFill>
              <a:srgbClr val="4F81BD"/>
            </a:solidFill>
            <a:prstDash val="solid"/>
          </a:ln>
          <a:effectLst/>
        </p:spPr>
      </p:pic>
      <p:sp>
        <p:nvSpPr>
          <p:cNvPr id="13" name="Rectangle 12">
            <a:extLst>
              <a:ext uri="{FF2B5EF4-FFF2-40B4-BE49-F238E27FC236}">
                <a16:creationId xmlns:a16="http://schemas.microsoft.com/office/drawing/2014/main" id="{D0BFEDCC-CA31-36F5-4C92-E22F32881E4E}"/>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5AB7E271-D10D-BE8C-8818-1143307E6FA3}"/>
              </a:ext>
            </a:extLst>
          </p:cNvPr>
          <p:cNvSpPr txBox="1"/>
          <p:nvPr/>
        </p:nvSpPr>
        <p:spPr>
          <a:xfrm>
            <a:off x="2530929" y="6092187"/>
            <a:ext cx="408214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Bitwise Class Test 1 Calculation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082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8E41B-1776-55CC-69C0-4F156B43E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A6DD0-0209-1F88-BBCE-140242143F82}"/>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28AA182E-F08E-72B9-AE8D-2F74331E123B}"/>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3B507AD5-D0AC-7147-62B0-2071B46E3E3A}"/>
              </a:ext>
            </a:extLst>
          </p:cNvPr>
          <p:cNvSpPr>
            <a:spLocks noGrp="1"/>
          </p:cNvSpPr>
          <p:nvPr>
            <p:ph type="ftr" sz="quarter" idx="11"/>
          </p:nvPr>
        </p:nvSpPr>
        <p:spPr/>
        <p:txBody>
          <a:bodyPr/>
          <a:lstStyle/>
          <a:p>
            <a:r>
              <a:rPr lang="en-US" dirty="0"/>
              <a:t>CPE – </a:t>
            </a:r>
            <a:r>
              <a:rPr lang="en-IN" dirty="0"/>
              <a:t>316004</a:t>
            </a:r>
            <a:r>
              <a:rPr lang="en-US" dirty="0"/>
              <a:t> Presentation</a:t>
            </a:r>
          </a:p>
        </p:txBody>
      </p:sp>
      <p:sp>
        <p:nvSpPr>
          <p:cNvPr id="6" name="Slide Number Placeholder 5">
            <a:extLst>
              <a:ext uri="{FF2B5EF4-FFF2-40B4-BE49-F238E27FC236}">
                <a16:creationId xmlns:a16="http://schemas.microsoft.com/office/drawing/2014/main" id="{E225BA35-CAD7-DD00-6A59-3FA79E38CB0D}"/>
              </a:ext>
            </a:extLst>
          </p:cNvPr>
          <p:cNvSpPr>
            <a:spLocks noGrp="1"/>
          </p:cNvSpPr>
          <p:nvPr>
            <p:ph type="sldNum" sz="quarter" idx="12"/>
          </p:nvPr>
        </p:nvSpPr>
        <p:spPr/>
        <p:txBody>
          <a:bodyPr/>
          <a:lstStyle/>
          <a:p>
            <a:fld id="{4AF1F8D0-972F-472E-AFE5-1F27E299DB0B}" type="slidenum">
              <a:rPr lang="en-US" smtClean="0"/>
              <a:pPr/>
              <a:t>7</a:t>
            </a:fld>
            <a:endParaRPr lang="en-US"/>
          </a:p>
        </p:txBody>
      </p:sp>
      <p:sp>
        <p:nvSpPr>
          <p:cNvPr id="13" name="Rectangle 12">
            <a:extLst>
              <a:ext uri="{FF2B5EF4-FFF2-40B4-BE49-F238E27FC236}">
                <a16:creationId xmlns:a16="http://schemas.microsoft.com/office/drawing/2014/main" id="{303AF733-7FCF-5C5C-F2FC-9271DFB8A544}"/>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Content Placeholder 8">
            <a:extLst>
              <a:ext uri="{FF2B5EF4-FFF2-40B4-BE49-F238E27FC236}">
                <a16:creationId xmlns:a16="http://schemas.microsoft.com/office/drawing/2014/main" id="{3985DB64-4E6E-F84F-31D5-3B77984DDDB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38400" y="1216224"/>
            <a:ext cx="3963175" cy="4803576"/>
          </a:xfrm>
          <a:prstGeom prst="rect">
            <a:avLst/>
          </a:prstGeom>
          <a:solidFill>
            <a:prstClr val="white"/>
          </a:solidFill>
          <a:ln w="25400" cap="flat" cmpd="sng" algn="ctr">
            <a:solidFill>
              <a:srgbClr val="4F81BD"/>
            </a:solidFill>
            <a:prstDash val="solid"/>
          </a:ln>
          <a:effectLst/>
        </p:spPr>
      </p:pic>
      <p:sp>
        <p:nvSpPr>
          <p:cNvPr id="3" name="TextBox 2">
            <a:extLst>
              <a:ext uri="{FF2B5EF4-FFF2-40B4-BE49-F238E27FC236}">
                <a16:creationId xmlns:a16="http://schemas.microsoft.com/office/drawing/2014/main" id="{31C5EC0A-6EE5-2709-BA2B-9A60163F5902}"/>
              </a:ext>
            </a:extLst>
          </p:cNvPr>
          <p:cNvSpPr txBox="1"/>
          <p:nvPr/>
        </p:nvSpPr>
        <p:spPr>
          <a:xfrm>
            <a:off x="2530929" y="6092187"/>
            <a:ext cx="408214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Bitwise Class Test 1 Calculation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742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91171-51E0-D05E-54C7-D40723761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3CA2A-8E13-5E49-3E62-016A9EB8513C}"/>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A35A1458-685A-205B-D819-6DED716FAAF0}"/>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EEDBA028-D42A-E558-59DA-31FE650EC04A}"/>
              </a:ext>
            </a:extLst>
          </p:cNvPr>
          <p:cNvSpPr>
            <a:spLocks noGrp="1"/>
          </p:cNvSpPr>
          <p:nvPr>
            <p:ph type="ftr" sz="quarter" idx="11"/>
          </p:nvPr>
        </p:nvSpPr>
        <p:spPr/>
        <p:txBody>
          <a:bodyPr/>
          <a:lstStyle/>
          <a:p>
            <a:r>
              <a:rPr lang="en-US" dirty="0"/>
              <a:t>CPE – </a:t>
            </a:r>
            <a:r>
              <a:rPr lang="en-IN" dirty="0"/>
              <a:t>316004</a:t>
            </a:r>
            <a:r>
              <a:rPr lang="en-US" dirty="0"/>
              <a:t> Presentation</a:t>
            </a:r>
          </a:p>
        </p:txBody>
      </p:sp>
      <p:sp>
        <p:nvSpPr>
          <p:cNvPr id="6" name="Slide Number Placeholder 5">
            <a:extLst>
              <a:ext uri="{FF2B5EF4-FFF2-40B4-BE49-F238E27FC236}">
                <a16:creationId xmlns:a16="http://schemas.microsoft.com/office/drawing/2014/main" id="{A4ABF0B9-1E4F-03FE-9508-B8F8249F5D51}"/>
              </a:ext>
            </a:extLst>
          </p:cNvPr>
          <p:cNvSpPr>
            <a:spLocks noGrp="1"/>
          </p:cNvSpPr>
          <p:nvPr>
            <p:ph type="sldNum" sz="quarter" idx="12"/>
          </p:nvPr>
        </p:nvSpPr>
        <p:spPr/>
        <p:txBody>
          <a:bodyPr/>
          <a:lstStyle/>
          <a:p>
            <a:fld id="{4AF1F8D0-972F-472E-AFE5-1F27E299DB0B}" type="slidenum">
              <a:rPr lang="en-US" smtClean="0"/>
              <a:pPr/>
              <a:t>8</a:t>
            </a:fld>
            <a:endParaRPr lang="en-US"/>
          </a:p>
        </p:txBody>
      </p:sp>
      <p:sp>
        <p:nvSpPr>
          <p:cNvPr id="13" name="Rectangle 12">
            <a:extLst>
              <a:ext uri="{FF2B5EF4-FFF2-40B4-BE49-F238E27FC236}">
                <a16:creationId xmlns:a16="http://schemas.microsoft.com/office/drawing/2014/main" id="{744166D8-4E24-25AD-6262-62130983F623}"/>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Content Placeholder 8">
            <a:extLst>
              <a:ext uri="{FF2B5EF4-FFF2-40B4-BE49-F238E27FC236}">
                <a16:creationId xmlns:a16="http://schemas.microsoft.com/office/drawing/2014/main" id="{2B28A4F3-AD5F-431B-41D3-AFB0D800FCE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25363" y="1170584"/>
            <a:ext cx="4162523" cy="4911922"/>
          </a:xfrm>
          <a:prstGeom prst="rect">
            <a:avLst/>
          </a:prstGeom>
          <a:solidFill>
            <a:prstClr val="white"/>
          </a:solidFill>
          <a:ln w="25400" cap="flat" cmpd="sng" algn="ctr">
            <a:solidFill>
              <a:srgbClr val="4F81BD"/>
            </a:solidFill>
            <a:prstDash val="solid"/>
          </a:ln>
          <a:effectLst/>
        </p:spPr>
      </p:pic>
      <p:sp>
        <p:nvSpPr>
          <p:cNvPr id="3" name="TextBox 2">
            <a:extLst>
              <a:ext uri="{FF2B5EF4-FFF2-40B4-BE49-F238E27FC236}">
                <a16:creationId xmlns:a16="http://schemas.microsoft.com/office/drawing/2014/main" id="{1AB85D85-7D07-EA5F-B418-B25E1E64BB21}"/>
              </a:ext>
            </a:extLst>
          </p:cNvPr>
          <p:cNvSpPr txBox="1"/>
          <p:nvPr/>
        </p:nvSpPr>
        <p:spPr>
          <a:xfrm>
            <a:off x="2438400" y="6073658"/>
            <a:ext cx="44196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Fig.(SLA)Self Learning Assessment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2128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FE958-EF8D-823E-FB81-40D51BCBB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CD33A-BC61-21CD-E500-9EB4CE1392A1}"/>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3CE47AE3-3CBF-816C-4E13-4A7FCC0173F0}"/>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476BDF7D-EF97-FAAC-A50A-67FCE1EE8474}"/>
              </a:ext>
            </a:extLst>
          </p:cNvPr>
          <p:cNvSpPr>
            <a:spLocks noGrp="1"/>
          </p:cNvSpPr>
          <p:nvPr>
            <p:ph type="ftr" sz="quarter" idx="11"/>
          </p:nvPr>
        </p:nvSpPr>
        <p:spPr/>
        <p:txBody>
          <a:bodyPr/>
          <a:lstStyle/>
          <a:p>
            <a:r>
              <a:rPr lang="en-US" dirty="0"/>
              <a:t>CPE – </a:t>
            </a:r>
            <a:r>
              <a:rPr lang="en-IN" dirty="0"/>
              <a:t>316004</a:t>
            </a:r>
            <a:r>
              <a:rPr lang="en-US" dirty="0"/>
              <a:t>Presentation</a:t>
            </a:r>
          </a:p>
        </p:txBody>
      </p:sp>
      <p:sp>
        <p:nvSpPr>
          <p:cNvPr id="6" name="Slide Number Placeholder 5">
            <a:extLst>
              <a:ext uri="{FF2B5EF4-FFF2-40B4-BE49-F238E27FC236}">
                <a16:creationId xmlns:a16="http://schemas.microsoft.com/office/drawing/2014/main" id="{77AB8170-A8B3-9ED0-453A-7993D5344DD1}"/>
              </a:ext>
            </a:extLst>
          </p:cNvPr>
          <p:cNvSpPr>
            <a:spLocks noGrp="1"/>
          </p:cNvSpPr>
          <p:nvPr>
            <p:ph type="sldNum" sz="quarter" idx="12"/>
          </p:nvPr>
        </p:nvSpPr>
        <p:spPr/>
        <p:txBody>
          <a:bodyPr/>
          <a:lstStyle/>
          <a:p>
            <a:fld id="{4AF1F8D0-972F-472E-AFE5-1F27E299DB0B}" type="slidenum">
              <a:rPr lang="en-US" smtClean="0"/>
              <a:pPr/>
              <a:t>9</a:t>
            </a:fld>
            <a:endParaRPr lang="en-US"/>
          </a:p>
        </p:txBody>
      </p:sp>
      <p:sp>
        <p:nvSpPr>
          <p:cNvPr id="13" name="Rectangle 12">
            <a:extLst>
              <a:ext uri="{FF2B5EF4-FFF2-40B4-BE49-F238E27FC236}">
                <a16:creationId xmlns:a16="http://schemas.microsoft.com/office/drawing/2014/main" id="{757DFCD9-2A61-12E5-2DDF-6C471F3E7D9F}"/>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Content Placeholder 8">
            <a:extLst>
              <a:ext uri="{FF2B5EF4-FFF2-40B4-BE49-F238E27FC236}">
                <a16:creationId xmlns:a16="http://schemas.microsoft.com/office/drawing/2014/main" id="{DABBD1B8-432D-34A3-11FB-A295FA964FE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l="3555" t="1052" r="273" b="2880"/>
          <a:stretch>
            <a:fillRect/>
          </a:stretch>
        </p:blipFill>
        <p:spPr>
          <a:xfrm>
            <a:off x="2286000" y="1161160"/>
            <a:ext cx="3829050" cy="4782440"/>
          </a:xfrm>
          <a:prstGeom prst="rect">
            <a:avLst/>
          </a:prstGeom>
          <a:solidFill>
            <a:prstClr val="white"/>
          </a:solidFill>
          <a:ln w="25400" cap="flat" cmpd="sng" algn="ctr">
            <a:solidFill>
              <a:srgbClr val="4F81BD"/>
            </a:solidFill>
            <a:prstDash val="solid"/>
          </a:ln>
          <a:effectLst/>
        </p:spPr>
      </p:pic>
      <p:sp>
        <p:nvSpPr>
          <p:cNvPr id="3" name="TextBox 2">
            <a:extLst>
              <a:ext uri="{FF2B5EF4-FFF2-40B4-BE49-F238E27FC236}">
                <a16:creationId xmlns:a16="http://schemas.microsoft.com/office/drawing/2014/main" id="{8C8E981F-5C2B-A832-2062-92F51DF96A71}"/>
              </a:ext>
            </a:extLst>
          </p:cNvPr>
          <p:cNvSpPr txBox="1"/>
          <p:nvPr/>
        </p:nvSpPr>
        <p:spPr>
          <a:xfrm>
            <a:off x="2438400" y="6016448"/>
            <a:ext cx="44196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Fig.(SLA)Self Learning Assessment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4976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1B287-DFAD-FBA0-6B4C-7E87C122C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2AF09-E8AF-BC42-EB7D-916DDE5B02D4}"/>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8D38799A-17E8-F6D8-ECAA-DFA6694FC0B1}"/>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BE9E04A6-2DEC-0A77-DCCD-411904E8AB63}"/>
              </a:ext>
            </a:extLst>
          </p:cNvPr>
          <p:cNvSpPr>
            <a:spLocks noGrp="1"/>
          </p:cNvSpPr>
          <p:nvPr>
            <p:ph type="ftr" sz="quarter" idx="11"/>
          </p:nvPr>
        </p:nvSpPr>
        <p:spPr/>
        <p:txBody>
          <a:bodyPr/>
          <a:lstStyle/>
          <a:p>
            <a:r>
              <a:rPr lang="en-US" dirty="0"/>
              <a:t>CPE – </a:t>
            </a:r>
            <a:r>
              <a:rPr lang="en-IN" dirty="0"/>
              <a:t>316004</a:t>
            </a:r>
            <a:r>
              <a:rPr lang="en-US" dirty="0"/>
              <a:t> Presentation</a:t>
            </a:r>
          </a:p>
        </p:txBody>
      </p:sp>
      <p:sp>
        <p:nvSpPr>
          <p:cNvPr id="6" name="Slide Number Placeholder 5">
            <a:extLst>
              <a:ext uri="{FF2B5EF4-FFF2-40B4-BE49-F238E27FC236}">
                <a16:creationId xmlns:a16="http://schemas.microsoft.com/office/drawing/2014/main" id="{21B34D7D-BAF4-75D5-1D59-DA78412451D5}"/>
              </a:ext>
            </a:extLst>
          </p:cNvPr>
          <p:cNvSpPr>
            <a:spLocks noGrp="1"/>
          </p:cNvSpPr>
          <p:nvPr>
            <p:ph type="sldNum" sz="quarter" idx="12"/>
          </p:nvPr>
        </p:nvSpPr>
        <p:spPr/>
        <p:txBody>
          <a:bodyPr/>
          <a:lstStyle/>
          <a:p>
            <a:fld id="{4AF1F8D0-972F-472E-AFE5-1F27E299DB0B}" type="slidenum">
              <a:rPr lang="en-US" smtClean="0"/>
              <a:pPr/>
              <a:t>10</a:t>
            </a:fld>
            <a:endParaRPr lang="en-US"/>
          </a:p>
        </p:txBody>
      </p:sp>
      <p:sp>
        <p:nvSpPr>
          <p:cNvPr id="13" name="Rectangle 12">
            <a:extLst>
              <a:ext uri="{FF2B5EF4-FFF2-40B4-BE49-F238E27FC236}">
                <a16:creationId xmlns:a16="http://schemas.microsoft.com/office/drawing/2014/main" id="{2857FC12-1D55-A7D6-E69C-54109E1D86FD}"/>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Content Placeholder 8">
            <a:extLst>
              <a:ext uri="{FF2B5EF4-FFF2-40B4-BE49-F238E27FC236}">
                <a16:creationId xmlns:a16="http://schemas.microsoft.com/office/drawing/2014/main" id="{D60C2A39-7F36-C474-FB1F-8AA21D705D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8204" y="1219200"/>
            <a:ext cx="7207591" cy="4800600"/>
          </a:xfrm>
          <a:prstGeom prst="rect">
            <a:avLst/>
          </a:prstGeom>
          <a:solidFill>
            <a:prstClr val="white"/>
          </a:solidFill>
          <a:ln w="25400" cap="flat" cmpd="sng" algn="ctr">
            <a:solidFill>
              <a:srgbClr val="4F81BD"/>
            </a:solidFill>
            <a:prstDash val="solid"/>
          </a:ln>
          <a:effectLst/>
        </p:spPr>
      </p:pic>
      <p:sp>
        <p:nvSpPr>
          <p:cNvPr id="7" name="TextBox 6">
            <a:extLst>
              <a:ext uri="{FF2B5EF4-FFF2-40B4-BE49-F238E27FC236}">
                <a16:creationId xmlns:a16="http://schemas.microsoft.com/office/drawing/2014/main" id="{5DD03AAA-2D67-8596-8842-E1AEA9CA5ABE}"/>
              </a:ext>
            </a:extLst>
          </p:cNvPr>
          <p:cNvSpPr txBox="1"/>
          <p:nvPr/>
        </p:nvSpPr>
        <p:spPr>
          <a:xfrm>
            <a:off x="1981200" y="6030555"/>
            <a:ext cx="6019800" cy="369332"/>
          </a:xfrm>
          <a:prstGeom prst="rect">
            <a:avLst/>
          </a:prstGeom>
          <a:noFill/>
        </p:spPr>
        <p:txBody>
          <a:bodyPr wrap="square" rtlCol="0">
            <a:spAutoFit/>
          </a:bodyPr>
          <a:lstStyle/>
          <a:p>
            <a:r>
              <a:rPr lang="en-US" dirty="0"/>
              <a:t>Fig.(FA-PR) Formative Assessment Of Practical</a:t>
            </a:r>
            <a:endParaRPr lang="en-IN" dirty="0"/>
          </a:p>
        </p:txBody>
      </p:sp>
    </p:spTree>
    <p:extLst>
      <p:ext uri="{BB962C8B-B14F-4D97-AF65-F5344CB8AC3E}">
        <p14:creationId xmlns:p14="http://schemas.microsoft.com/office/powerpoint/2010/main" val="745821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5D01E-2650-6741-2967-373CC594E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648B7-0548-D49E-CBE9-EB7257CDE2F9}"/>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576EAF11-790B-2B55-0216-F8B8DDB27246}"/>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C511AD4B-D9C2-8BAA-31CC-483310417C0C}"/>
              </a:ext>
            </a:extLst>
          </p:cNvPr>
          <p:cNvSpPr>
            <a:spLocks noGrp="1"/>
          </p:cNvSpPr>
          <p:nvPr>
            <p:ph type="ftr" sz="quarter" idx="11"/>
          </p:nvPr>
        </p:nvSpPr>
        <p:spPr/>
        <p:txBody>
          <a:bodyPr/>
          <a:lstStyle/>
          <a:p>
            <a:r>
              <a:rPr lang="en-US" dirty="0"/>
              <a:t>CPE – </a:t>
            </a:r>
            <a:r>
              <a:rPr lang="en-IN" dirty="0"/>
              <a:t>316004</a:t>
            </a:r>
            <a:r>
              <a:rPr lang="en-US" dirty="0"/>
              <a:t> Presentation</a:t>
            </a:r>
          </a:p>
        </p:txBody>
      </p:sp>
      <p:sp>
        <p:nvSpPr>
          <p:cNvPr id="6" name="Slide Number Placeholder 5">
            <a:extLst>
              <a:ext uri="{FF2B5EF4-FFF2-40B4-BE49-F238E27FC236}">
                <a16:creationId xmlns:a16="http://schemas.microsoft.com/office/drawing/2014/main" id="{F1498D29-20F8-EA2C-7517-7E64EF5F46C0}"/>
              </a:ext>
            </a:extLst>
          </p:cNvPr>
          <p:cNvSpPr>
            <a:spLocks noGrp="1"/>
          </p:cNvSpPr>
          <p:nvPr>
            <p:ph type="sldNum" sz="quarter" idx="12"/>
          </p:nvPr>
        </p:nvSpPr>
        <p:spPr/>
        <p:txBody>
          <a:bodyPr/>
          <a:lstStyle/>
          <a:p>
            <a:fld id="{4AF1F8D0-972F-472E-AFE5-1F27E299DB0B}" type="slidenum">
              <a:rPr lang="en-US" smtClean="0"/>
              <a:pPr/>
              <a:t>11</a:t>
            </a:fld>
            <a:endParaRPr lang="en-US"/>
          </a:p>
        </p:txBody>
      </p:sp>
      <p:sp>
        <p:nvSpPr>
          <p:cNvPr id="13" name="Rectangle 12">
            <a:extLst>
              <a:ext uri="{FF2B5EF4-FFF2-40B4-BE49-F238E27FC236}">
                <a16:creationId xmlns:a16="http://schemas.microsoft.com/office/drawing/2014/main" id="{13C4BCA2-A358-C1E6-6D00-7AB3C270BE4F}"/>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0" name="Content Placeholder 9">
            <a:extLst>
              <a:ext uri="{FF2B5EF4-FFF2-40B4-BE49-F238E27FC236}">
                <a16:creationId xmlns:a16="http://schemas.microsoft.com/office/drawing/2014/main" id="{63ED83F9-0061-CB4D-47DE-BD55B7B597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1731" y="1219200"/>
            <a:ext cx="7360537" cy="4724400"/>
          </a:xfrm>
          <a:prstGeom prst="rect">
            <a:avLst/>
          </a:prstGeom>
          <a:solidFill>
            <a:prstClr val="white"/>
          </a:solidFill>
          <a:ln w="25400" cap="flat" cmpd="sng" algn="ctr">
            <a:solidFill>
              <a:srgbClr val="4F81BD"/>
            </a:solidFill>
            <a:prstDash val="solid"/>
          </a:ln>
          <a:effectLst/>
        </p:spPr>
      </p:pic>
      <p:sp>
        <p:nvSpPr>
          <p:cNvPr id="3" name="TextBox 2">
            <a:extLst>
              <a:ext uri="{FF2B5EF4-FFF2-40B4-BE49-F238E27FC236}">
                <a16:creationId xmlns:a16="http://schemas.microsoft.com/office/drawing/2014/main" id="{411D0621-8C35-205B-5E00-2236AC7F855E}"/>
              </a:ext>
            </a:extLst>
          </p:cNvPr>
          <p:cNvSpPr txBox="1"/>
          <p:nvPr/>
        </p:nvSpPr>
        <p:spPr>
          <a:xfrm>
            <a:off x="1981200" y="6030555"/>
            <a:ext cx="6019800" cy="369332"/>
          </a:xfrm>
          <a:prstGeom prst="rect">
            <a:avLst/>
          </a:prstGeom>
          <a:noFill/>
        </p:spPr>
        <p:txBody>
          <a:bodyPr wrap="square" rtlCol="0">
            <a:spAutoFit/>
          </a:bodyPr>
          <a:lstStyle/>
          <a:p>
            <a:r>
              <a:rPr lang="en-US" dirty="0"/>
              <a:t>Fig.(FA-PR) Formative Assessment Of Practical</a:t>
            </a:r>
            <a:endParaRPr lang="en-IN" dirty="0"/>
          </a:p>
        </p:txBody>
      </p:sp>
    </p:spTree>
    <p:extLst>
      <p:ext uri="{BB962C8B-B14F-4D97-AF65-F5344CB8AC3E}">
        <p14:creationId xmlns:p14="http://schemas.microsoft.com/office/powerpoint/2010/main" val="3815699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75256-81F1-AF2B-487F-1D849DCED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6CD4A-0562-D834-CB2E-C61A1A29AE80}"/>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C0648DAF-5E40-9967-EA5F-AAD033EBA0DB}"/>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C7E289E5-FBA5-C1A0-C480-0B9337F5F028}"/>
              </a:ext>
            </a:extLst>
          </p:cNvPr>
          <p:cNvSpPr>
            <a:spLocks noGrp="1"/>
          </p:cNvSpPr>
          <p:nvPr>
            <p:ph type="ftr" sz="quarter" idx="11"/>
          </p:nvPr>
        </p:nvSpPr>
        <p:spPr/>
        <p:txBody>
          <a:bodyPr/>
          <a:lstStyle/>
          <a:p>
            <a:r>
              <a:rPr lang="en-US" dirty="0"/>
              <a:t>CPE – </a:t>
            </a:r>
            <a:r>
              <a:rPr lang="en-IN" dirty="0"/>
              <a:t>316004</a:t>
            </a:r>
            <a:r>
              <a:rPr lang="en-US" dirty="0"/>
              <a:t> Presentation</a:t>
            </a:r>
          </a:p>
        </p:txBody>
      </p:sp>
      <p:sp>
        <p:nvSpPr>
          <p:cNvPr id="6" name="Slide Number Placeholder 5">
            <a:extLst>
              <a:ext uri="{FF2B5EF4-FFF2-40B4-BE49-F238E27FC236}">
                <a16:creationId xmlns:a16="http://schemas.microsoft.com/office/drawing/2014/main" id="{C9B4424E-A330-D934-917F-8BD01E3B0839}"/>
              </a:ext>
            </a:extLst>
          </p:cNvPr>
          <p:cNvSpPr>
            <a:spLocks noGrp="1"/>
          </p:cNvSpPr>
          <p:nvPr>
            <p:ph type="sldNum" sz="quarter" idx="12"/>
          </p:nvPr>
        </p:nvSpPr>
        <p:spPr/>
        <p:txBody>
          <a:bodyPr/>
          <a:lstStyle/>
          <a:p>
            <a:fld id="{4AF1F8D0-972F-472E-AFE5-1F27E299DB0B}" type="slidenum">
              <a:rPr lang="en-US" smtClean="0"/>
              <a:pPr/>
              <a:t>12</a:t>
            </a:fld>
            <a:endParaRPr lang="en-US"/>
          </a:p>
        </p:txBody>
      </p:sp>
      <p:sp>
        <p:nvSpPr>
          <p:cNvPr id="13" name="Rectangle 12">
            <a:extLst>
              <a:ext uri="{FF2B5EF4-FFF2-40B4-BE49-F238E27FC236}">
                <a16:creationId xmlns:a16="http://schemas.microsoft.com/office/drawing/2014/main" id="{E06384B5-DAC1-ABFF-4ACC-861633D023AA}"/>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0" name="Content Placeholder 9">
            <a:extLst>
              <a:ext uri="{FF2B5EF4-FFF2-40B4-BE49-F238E27FC236}">
                <a16:creationId xmlns:a16="http://schemas.microsoft.com/office/drawing/2014/main" id="{F2A4BCB0-3B65-FF4C-B7C2-BB347E1CD86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62200" y="1216224"/>
            <a:ext cx="4025809" cy="4866282"/>
          </a:xfrm>
          <a:prstGeom prst="rect">
            <a:avLst/>
          </a:prstGeom>
          <a:solidFill>
            <a:prstClr val="white"/>
          </a:solidFill>
          <a:ln w="25400" cap="flat" cmpd="sng" algn="ctr">
            <a:solidFill>
              <a:srgbClr val="4F81BD"/>
            </a:solidFill>
            <a:prstDash val="solid"/>
          </a:ln>
          <a:effectLst/>
        </p:spPr>
      </p:pic>
      <p:sp>
        <p:nvSpPr>
          <p:cNvPr id="3" name="TextBox 2">
            <a:extLst>
              <a:ext uri="{FF2B5EF4-FFF2-40B4-BE49-F238E27FC236}">
                <a16:creationId xmlns:a16="http://schemas.microsoft.com/office/drawing/2014/main" id="{9FEA9171-CCF1-72E9-935A-825D130E294A}"/>
              </a:ext>
            </a:extLst>
          </p:cNvPr>
          <p:cNvSpPr txBox="1"/>
          <p:nvPr/>
        </p:nvSpPr>
        <p:spPr>
          <a:xfrm>
            <a:off x="2438400" y="6073658"/>
            <a:ext cx="4648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a:t>
            </a:r>
            <a:r>
              <a:rPr lang="en-US" dirty="0"/>
              <a:t> (SAPR)-Summative Assessment Of Practical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9526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C8ED3-C86A-1736-1A04-14CAEC796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DB99-A78A-11F6-FA0D-D484C58EC0EF}"/>
              </a:ext>
            </a:extLst>
          </p:cNvPr>
          <p:cNvSpPr>
            <a:spLocks noGrp="1"/>
          </p:cNvSpPr>
          <p:nvPr>
            <p:ph type="title"/>
          </p:nvPr>
        </p:nvSpPr>
        <p:spPr/>
        <p:txBody>
          <a:bodyPr>
            <a:normAutofit fontScale="90000"/>
          </a:bodyPr>
          <a:lstStyle/>
          <a:p>
            <a:r>
              <a:rPr lang="en-US" dirty="0"/>
              <a:t>2. Literature Review</a:t>
            </a:r>
          </a:p>
        </p:txBody>
      </p:sp>
      <p:sp>
        <p:nvSpPr>
          <p:cNvPr id="4" name="Date Placeholder 3">
            <a:extLst>
              <a:ext uri="{FF2B5EF4-FFF2-40B4-BE49-F238E27FC236}">
                <a16:creationId xmlns:a16="http://schemas.microsoft.com/office/drawing/2014/main" id="{71D8E849-9518-DA2D-DB99-32A011078895}"/>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7CB9A705-0982-064C-7A06-1B32BF8186D3}"/>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7A021BD5-9B4F-748A-F899-8B4FF042717C}"/>
              </a:ext>
            </a:extLst>
          </p:cNvPr>
          <p:cNvSpPr>
            <a:spLocks noGrp="1"/>
          </p:cNvSpPr>
          <p:nvPr>
            <p:ph type="sldNum" sz="quarter" idx="12"/>
          </p:nvPr>
        </p:nvSpPr>
        <p:spPr/>
        <p:txBody>
          <a:bodyPr/>
          <a:lstStyle/>
          <a:p>
            <a:fld id="{4AF1F8D0-972F-472E-AFE5-1F27E299DB0B}" type="slidenum">
              <a:rPr lang="en-US" smtClean="0"/>
              <a:pPr/>
              <a:t>13</a:t>
            </a:fld>
            <a:endParaRPr lang="en-US"/>
          </a:p>
        </p:txBody>
      </p:sp>
      <p:sp>
        <p:nvSpPr>
          <p:cNvPr id="13" name="Rectangle 12">
            <a:extLst>
              <a:ext uri="{FF2B5EF4-FFF2-40B4-BE49-F238E27FC236}">
                <a16:creationId xmlns:a16="http://schemas.microsoft.com/office/drawing/2014/main" id="{5ADFC129-114D-3E57-7732-ECA51723BDD2}"/>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Content Placeholder 8">
            <a:extLst>
              <a:ext uri="{FF2B5EF4-FFF2-40B4-BE49-F238E27FC236}">
                <a16:creationId xmlns:a16="http://schemas.microsoft.com/office/drawing/2014/main" id="{219982BD-C46E-8A88-B8F4-F182DDB36D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5434" y="1219200"/>
            <a:ext cx="4473132" cy="4800600"/>
          </a:xfrm>
          <a:prstGeom prst="rect">
            <a:avLst/>
          </a:prstGeom>
          <a:solidFill>
            <a:prstClr val="white"/>
          </a:solidFill>
          <a:ln w="25400" cap="flat" cmpd="sng" algn="ctr">
            <a:solidFill>
              <a:srgbClr val="4F81BD"/>
            </a:solidFill>
            <a:prstDash val="solid"/>
          </a:ln>
          <a:effectLst/>
        </p:spPr>
      </p:pic>
      <p:sp>
        <p:nvSpPr>
          <p:cNvPr id="3" name="TextBox 2">
            <a:extLst>
              <a:ext uri="{FF2B5EF4-FFF2-40B4-BE49-F238E27FC236}">
                <a16:creationId xmlns:a16="http://schemas.microsoft.com/office/drawing/2014/main" id="{63932197-81F3-F277-157E-F62B4BFAA6F3}"/>
              </a:ext>
            </a:extLst>
          </p:cNvPr>
          <p:cNvSpPr txBox="1"/>
          <p:nvPr/>
        </p:nvSpPr>
        <p:spPr>
          <a:xfrm>
            <a:off x="2438400" y="6003409"/>
            <a:ext cx="5562600" cy="369332"/>
          </a:xfrm>
          <a:prstGeom prst="rect">
            <a:avLst/>
          </a:prstGeom>
          <a:noFill/>
        </p:spPr>
        <p:txBody>
          <a:bodyPr wrap="square" rtlCol="0">
            <a:spAutoFit/>
          </a:bodyPr>
          <a:lstStyle/>
          <a:p>
            <a:r>
              <a:rPr lang="en-US" dirty="0"/>
              <a:t>Fig. (SA-PR)-Summative Assessment Of Practical</a:t>
            </a:r>
            <a:endParaRPr lang="en-IN" dirty="0"/>
          </a:p>
        </p:txBody>
      </p:sp>
    </p:spTree>
    <p:extLst>
      <p:ext uri="{BB962C8B-B14F-4D97-AF65-F5344CB8AC3E}">
        <p14:creationId xmlns:p14="http://schemas.microsoft.com/office/powerpoint/2010/main" val="397070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Scope of the project</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	The scope of this project is defined within the academic framework of institutes affiliated under MSBTE. The system is intended for implementation at S.S.V.P.S’s B. S. </a:t>
            </a:r>
            <a:r>
              <a:rPr lang="en-US" sz="1800" dirty="0" err="1">
                <a:latin typeface="Times New Roman" panose="02020603050405020304" pitchFamily="18" charset="0"/>
                <a:cs typeface="Times New Roman" panose="02020603050405020304" pitchFamily="18" charset="0"/>
              </a:rPr>
              <a:t>Deore</a:t>
            </a:r>
            <a:r>
              <a:rPr lang="en-US" sz="1800" dirty="0">
                <a:latin typeface="Times New Roman" panose="02020603050405020304" pitchFamily="18" charset="0"/>
                <a:cs typeface="Times New Roman" panose="02020603050405020304" pitchFamily="18" charset="0"/>
              </a:rPr>
              <a:t> Polytechnic, Dhule, specifically within the Computer Engineering Department. It supports internal academic evaluation processes followed under various curricula such as the K Scheme and I Scheme. The project focuses on subject-wise performance analysis for the current batch of students and provides structured support to faculty members and administrative authorities. Its scope includes attainment calculation, rubrics-based classification, gap identification, and generation of analytical reports for internal academic review. The project is limited to institutional-level evaluation support and does not extend to external examination or result processing systems.</a:t>
            </a:r>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35428-B7AF-04DA-2668-B64BAA96B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40896-FE57-B2BA-1C52-D77E02BF5DB6}"/>
              </a:ext>
            </a:extLst>
          </p:cNvPr>
          <p:cNvSpPr>
            <a:spLocks noGrp="1"/>
          </p:cNvSpPr>
          <p:nvPr>
            <p:ph type="title"/>
          </p:nvPr>
        </p:nvSpPr>
        <p:spPr/>
        <p:txBody>
          <a:bodyPr>
            <a:normAutofit fontScale="90000"/>
          </a:bodyPr>
          <a:lstStyle/>
          <a:p>
            <a:r>
              <a:rPr lang="en-US" dirty="0"/>
              <a:t>4. Methodology</a:t>
            </a:r>
          </a:p>
        </p:txBody>
      </p:sp>
      <p:sp>
        <p:nvSpPr>
          <p:cNvPr id="4" name="Date Placeholder 3">
            <a:extLst>
              <a:ext uri="{FF2B5EF4-FFF2-40B4-BE49-F238E27FC236}">
                <a16:creationId xmlns:a16="http://schemas.microsoft.com/office/drawing/2014/main" id="{16D5D730-F411-A7AA-C6A3-9CBBB213FFDE}"/>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94F0DD43-DED9-0EB9-6BC2-0BB91FEB97FE}"/>
              </a:ext>
            </a:extLst>
          </p:cNvPr>
          <p:cNvSpPr>
            <a:spLocks noGrp="1"/>
          </p:cNvSpPr>
          <p:nvPr>
            <p:ph type="ftr" sz="quarter" idx="11"/>
          </p:nvPr>
        </p:nvSpPr>
        <p:spPr/>
        <p:txBody>
          <a:bodyPr/>
          <a:lstStyle/>
          <a:p>
            <a:r>
              <a:rPr lang="en-US"/>
              <a:t>CPE – 22060 Presentation</a:t>
            </a:r>
            <a:endParaRPr lang="en-US" dirty="0"/>
          </a:p>
        </p:txBody>
      </p:sp>
      <p:sp>
        <p:nvSpPr>
          <p:cNvPr id="6" name="Slide Number Placeholder 5">
            <a:extLst>
              <a:ext uri="{FF2B5EF4-FFF2-40B4-BE49-F238E27FC236}">
                <a16:creationId xmlns:a16="http://schemas.microsoft.com/office/drawing/2014/main" id="{E071A1C4-FF85-1026-123A-2580C143F345}"/>
              </a:ext>
            </a:extLst>
          </p:cNvPr>
          <p:cNvSpPr>
            <a:spLocks noGrp="1"/>
          </p:cNvSpPr>
          <p:nvPr>
            <p:ph type="sldNum" sz="quarter" idx="12"/>
          </p:nvPr>
        </p:nvSpPr>
        <p:spPr/>
        <p:txBody>
          <a:bodyPr/>
          <a:lstStyle/>
          <a:p>
            <a:fld id="{4AF1F8D0-972F-472E-AFE5-1F27E299DB0B}" type="slidenum">
              <a:rPr lang="en-US" smtClean="0"/>
              <a:pPr/>
              <a:t>15</a:t>
            </a:fld>
            <a:endParaRPr lang="en-US"/>
          </a:p>
        </p:txBody>
      </p:sp>
      <p:sp>
        <p:nvSpPr>
          <p:cNvPr id="7" name="Content Placeholder 2">
            <a:extLst>
              <a:ext uri="{FF2B5EF4-FFF2-40B4-BE49-F238E27FC236}">
                <a16:creationId xmlns:a16="http://schemas.microsoft.com/office/drawing/2014/main" id="{62B5E151-A526-3E6C-A42D-D8E32D5FD26D}"/>
              </a:ext>
            </a:extLst>
          </p:cNvPr>
          <p:cNvSpPr>
            <a:spLocks noGrp="1"/>
          </p:cNvSpPr>
          <p:nvPr>
            <p:ph idx="1"/>
          </p:nvPr>
        </p:nvSpPr>
        <p:spPr>
          <a:xfrm>
            <a:off x="457200" y="990600"/>
            <a:ext cx="8229600" cy="5334000"/>
          </a:xfrm>
        </p:spPr>
        <p:txBody>
          <a:bodyPr>
            <a:normAutofit/>
          </a:bodyPr>
          <a:lstStyle/>
          <a:p>
            <a:r>
              <a:rPr lang="en-IN" sz="2600" u="sng" dirty="0"/>
              <a:t>Technologies used:-</a:t>
            </a:r>
          </a:p>
          <a:p>
            <a:pPr marL="457200" lvl="1" indent="0" algn="just">
              <a:lnSpc>
                <a:spcPct val="150000"/>
              </a:lnSpc>
              <a:buNone/>
            </a:pPr>
            <a:r>
              <a:rPr lang="en-IN" sz="2200" dirty="0">
                <a:latin typeface="Times New Roman" panose="02020603050405020304" pitchFamily="18" charset="0"/>
                <a:cs typeface="Times New Roman" panose="02020603050405020304" pitchFamily="18" charset="0"/>
              </a:rPr>
              <a:t>1.	</a:t>
            </a:r>
            <a:r>
              <a:rPr lang="en-IN" sz="1800" dirty="0">
                <a:latin typeface="Times New Roman" panose="02020603050405020304" pitchFamily="18" charset="0"/>
                <a:cs typeface="Times New Roman" panose="02020603050405020304" pitchFamily="18" charset="0"/>
              </a:rPr>
              <a:t>Django</a:t>
            </a:r>
            <a:r>
              <a:rPr lang="en-IN" sz="2200"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Python):-</a:t>
            </a:r>
            <a:r>
              <a:rPr lang="en-US" sz="1800" dirty="0">
                <a:latin typeface="Times New Roman" panose="02020603050405020304" pitchFamily="18" charset="0"/>
                <a:cs typeface="Times New Roman" panose="02020603050405020304" pitchFamily="18" charset="0"/>
              </a:rPr>
              <a:t>Used for backend development. It processes the uploaded 	SRS file, performs validation, applies NLP techniques, and handles 	communication with the database. </a:t>
            </a:r>
          </a:p>
          <a:p>
            <a:pPr marL="457200" lvl="1" indent="0" algn="just">
              <a:lnSpc>
                <a:spcPct val="150000"/>
              </a:lnSpc>
              <a:buNone/>
            </a:pPr>
            <a:r>
              <a:rPr lang="en-US" sz="1800" dirty="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hlinkClick r:id="rId2"/>
              </a:rPr>
              <a:t>https://www.python.org/doc/</a:t>
            </a:r>
            <a:endParaRPr lang="en-US" sz="1800"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IN" sz="1800" dirty="0">
                <a:latin typeface="Times New Roman" panose="02020603050405020304" pitchFamily="18" charset="0"/>
                <a:cs typeface="Times New Roman" panose="02020603050405020304" pitchFamily="18" charset="0"/>
              </a:rPr>
              <a:t>2.   Sqlite3:- </a:t>
            </a:r>
            <a:r>
              <a:rPr lang="en-US" sz="1800" dirty="0">
                <a:latin typeface="Times New Roman" panose="02020603050405020304" pitchFamily="18" charset="0"/>
                <a:cs typeface="Times New Roman" panose="02020603050405020304" pitchFamily="18" charset="0"/>
              </a:rPr>
              <a:t>Used as the database to store user and admin data.</a:t>
            </a:r>
          </a:p>
          <a:p>
            <a:pPr marL="457200" lvl="1" indent="0" algn="just">
              <a:lnSpc>
                <a:spcPct val="150000"/>
              </a:lnSpc>
              <a:buNone/>
            </a:pPr>
            <a:r>
              <a:rPr lang="en-US" sz="1800" dirty="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hlinkClick r:id="rId3"/>
              </a:rPr>
              <a:t>https://www.sqlite3.com/docs/</a:t>
            </a:r>
            <a:endParaRPr lang="en-US" sz="1800" dirty="0">
              <a:latin typeface="Times New Roman" panose="02020603050405020304" pitchFamily="18" charset="0"/>
              <a:cs typeface="Times New Roman" panose="02020603050405020304" pitchFamily="18" charset="0"/>
            </a:endParaRPr>
          </a:p>
          <a:p>
            <a:pPr marL="800100" lvl="1" indent="-342900" algn="just">
              <a:lnSpc>
                <a:spcPct val="150000"/>
              </a:lnSpc>
              <a:buAutoNum type="arabicPeriod" startAt="3"/>
            </a:pPr>
            <a:r>
              <a:rPr lang="en-US" sz="1800" dirty="0">
                <a:latin typeface="Times New Roman" panose="02020603050405020304" pitchFamily="18" charset="0"/>
                <a:cs typeface="Times New Roman" panose="02020603050405020304" pitchFamily="18" charset="0"/>
              </a:rPr>
              <a:t>Frontend:- Django templates (HTML/CSS/JS), Bootstrap, jQuery, </a:t>
            </a:r>
            <a:r>
              <a:rPr lang="en-US" sz="1800" dirty="0" err="1">
                <a:latin typeface="Times New Roman" panose="02020603050405020304" pitchFamily="18" charset="0"/>
                <a:cs typeface="Times New Roman" panose="02020603050405020304" pitchFamily="18" charset="0"/>
              </a:rPr>
              <a:t>DataTables</a:t>
            </a:r>
            <a:r>
              <a:rPr lang="en-US" sz="1800" dirty="0">
                <a:latin typeface="Times New Roman" panose="02020603050405020304" pitchFamily="18" charset="0"/>
                <a:cs typeface="Times New Roman" panose="02020603050405020304" pitchFamily="18" charset="0"/>
              </a:rPr>
              <a:t> . JSON Fields: Used extensively to store flexible schemas (e.g., </a:t>
            </a:r>
            <a:r>
              <a:rPr lang="en-US" sz="1800" dirty="0" err="1">
                <a:latin typeface="Times New Roman" panose="02020603050405020304" pitchFamily="18" charset="0"/>
                <a:cs typeface="Times New Roman" panose="02020603050405020304" pitchFamily="18" charset="0"/>
              </a:rPr>
              <a:t>subjects_data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students_data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student_marks</a:t>
            </a:r>
            <a:r>
              <a:rPr lang="en-US" sz="1800" dirty="0">
                <a:latin typeface="Times New Roman" panose="02020603050405020304" pitchFamily="18" charset="0"/>
                <a:cs typeface="Times New Roman" panose="02020603050405020304" pitchFamily="18" charset="0"/>
              </a:rPr>
              <a:t>, configs).</a:t>
            </a:r>
            <a:endParaRPr lang="en-IN" sz="8000" dirty="0"/>
          </a:p>
          <a:p>
            <a:pPr marL="971550" lvl="1" indent="-514350">
              <a:buAutoNum type="arabicPeriod"/>
            </a:pPr>
            <a:endParaRPr lang="en-IN" dirty="0"/>
          </a:p>
        </p:txBody>
      </p:sp>
    </p:spTree>
    <p:extLst>
      <p:ext uri="{BB962C8B-B14F-4D97-AF65-F5344CB8AC3E}">
        <p14:creationId xmlns:p14="http://schemas.microsoft.com/office/powerpoint/2010/main" val="70569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8D740-AAD6-F12F-D8BF-D2C4C4609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DD086-707D-D37C-4BAA-884D327BCCC1}"/>
              </a:ext>
            </a:extLst>
          </p:cNvPr>
          <p:cNvSpPr>
            <a:spLocks noGrp="1"/>
          </p:cNvSpPr>
          <p:nvPr>
            <p:ph type="title"/>
          </p:nvPr>
        </p:nvSpPr>
        <p:spPr/>
        <p:txBody>
          <a:bodyPr>
            <a:normAutofit fontScale="90000"/>
          </a:bodyPr>
          <a:lstStyle/>
          <a:p>
            <a:r>
              <a:rPr lang="en-US" dirty="0"/>
              <a:t>4. Methodology</a:t>
            </a:r>
          </a:p>
        </p:txBody>
      </p:sp>
      <p:sp>
        <p:nvSpPr>
          <p:cNvPr id="3" name="Content Placeholder 2">
            <a:extLst>
              <a:ext uri="{FF2B5EF4-FFF2-40B4-BE49-F238E27FC236}">
                <a16:creationId xmlns:a16="http://schemas.microsoft.com/office/drawing/2014/main" id="{E9CAF3B5-2775-9B1B-5EF2-943718BD1C02}"/>
              </a:ext>
            </a:extLst>
          </p:cNvPr>
          <p:cNvSpPr>
            <a:spLocks noGrp="1"/>
          </p:cNvSpPr>
          <p:nvPr>
            <p:ph idx="1"/>
          </p:nvPr>
        </p:nvSpPr>
        <p:spPr/>
        <p:txBody>
          <a:bodyPr>
            <a:normAutofit/>
          </a:bodyPr>
          <a:lstStyle/>
          <a:p>
            <a:pPr>
              <a:lnSpc>
                <a:spcPct val="150000"/>
              </a:lnSpc>
            </a:pPr>
            <a:r>
              <a:rPr lang="en-US" sz="1800" dirty="0"/>
              <a:t> </a:t>
            </a:r>
            <a:r>
              <a:rPr lang="en-US" sz="1800" dirty="0">
                <a:latin typeface="Times New Roman" panose="02020603050405020304" pitchFamily="18" charset="0"/>
                <a:cs typeface="Times New Roman" panose="02020603050405020304" pitchFamily="18" charset="0"/>
              </a:rPr>
              <a:t>The system is a web-based application designed to automate CO attainment calculation for SSVPS College. </a:t>
            </a:r>
          </a:p>
          <a:p>
            <a:pPr>
              <a:lnSpc>
                <a:spcPct val="150000"/>
              </a:lnSpc>
            </a:pPr>
            <a:r>
              <a:rPr lang="en-US" sz="1800" dirty="0">
                <a:latin typeface="Times New Roman" panose="02020603050405020304" pitchFamily="18" charset="0"/>
                <a:cs typeface="Times New Roman" panose="02020603050405020304" pitchFamily="18" charset="0"/>
              </a:rPr>
              <a:t>It allows faculty to enter and manage student assessment data in a structured and accurate way. </a:t>
            </a:r>
          </a:p>
          <a:p>
            <a:pPr>
              <a:lnSpc>
                <a:spcPct val="150000"/>
              </a:lnSpc>
            </a:pPr>
            <a:r>
              <a:rPr lang="en-US" sz="1800" dirty="0">
                <a:latin typeface="Times New Roman" panose="02020603050405020304" pitchFamily="18" charset="0"/>
                <a:cs typeface="Times New Roman" panose="02020603050405020304" pitchFamily="18" charset="0"/>
              </a:rPr>
              <a:t>The system automatically calculates CO attainment percentages after uploading student scores. </a:t>
            </a:r>
          </a:p>
          <a:p>
            <a:pPr>
              <a:lnSpc>
                <a:spcPct val="150000"/>
              </a:lnSpc>
            </a:pPr>
            <a:r>
              <a:rPr lang="en-US" sz="1800" dirty="0">
                <a:latin typeface="Times New Roman" panose="02020603050405020304" pitchFamily="18" charset="0"/>
                <a:cs typeface="Times New Roman" panose="02020603050405020304" pitchFamily="18" charset="0"/>
              </a:rPr>
              <a:t>It helps in monitoring student performance and identifying learning gaps early. </a:t>
            </a:r>
          </a:p>
          <a:p>
            <a:pPr>
              <a:lnSpc>
                <a:spcPct val="150000"/>
              </a:lnSpc>
            </a:pPr>
            <a:r>
              <a:rPr lang="en-US" sz="1800" dirty="0">
                <a:latin typeface="Times New Roman" panose="02020603050405020304" pitchFamily="18" charset="0"/>
                <a:cs typeface="Times New Roman" panose="02020603050405020304" pitchFamily="18" charset="0"/>
              </a:rPr>
              <a:t>Graphical visualizations (like bar charts) support analysis and reduce manual effort with real-time monitoring. </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B5D962C-2637-1BF4-C45B-4E473C9B2CED}"/>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384A9D92-41AF-9F88-7B01-F5AB85AC0DC1}"/>
              </a:ext>
            </a:extLst>
          </p:cNvPr>
          <p:cNvSpPr>
            <a:spLocks noGrp="1"/>
          </p:cNvSpPr>
          <p:nvPr>
            <p:ph type="ftr" sz="quarter" idx="11"/>
          </p:nvPr>
        </p:nvSpPr>
        <p:spPr/>
        <p:txBody>
          <a:bodyPr/>
          <a:lstStyle/>
          <a:p>
            <a:r>
              <a:rPr lang="en-US"/>
              <a:t>CPE –</a:t>
            </a:r>
            <a:r>
              <a:rPr lang="en-IN"/>
              <a:t>316004 </a:t>
            </a:r>
            <a:r>
              <a:rPr lang="en-US"/>
              <a:t>Presentation</a:t>
            </a:r>
            <a:endParaRPr lang="en-US" dirty="0"/>
          </a:p>
        </p:txBody>
      </p:sp>
      <p:sp>
        <p:nvSpPr>
          <p:cNvPr id="6" name="Slide Number Placeholder 5">
            <a:extLst>
              <a:ext uri="{FF2B5EF4-FFF2-40B4-BE49-F238E27FC236}">
                <a16:creationId xmlns:a16="http://schemas.microsoft.com/office/drawing/2014/main" id="{671D674E-5369-93B7-80C1-7B8887776825}"/>
              </a:ext>
            </a:extLst>
          </p:cNvPr>
          <p:cNvSpPr>
            <a:spLocks noGrp="1"/>
          </p:cNvSpPr>
          <p:nvPr>
            <p:ph type="sldNum" sz="quarter" idx="12"/>
          </p:nvPr>
        </p:nvSpPr>
        <p:spPr/>
        <p:txBody>
          <a:bodyPr/>
          <a:lstStyle/>
          <a:p>
            <a:fld id="{4AF1F8D0-972F-472E-AFE5-1F27E299DB0B}" type="slidenum">
              <a:rPr lang="en-US" smtClean="0"/>
              <a:pPr/>
              <a:t>16</a:t>
            </a:fld>
            <a:endParaRPr lang="en-US"/>
          </a:p>
        </p:txBody>
      </p:sp>
    </p:spTree>
    <p:extLst>
      <p:ext uri="{BB962C8B-B14F-4D97-AF65-F5344CB8AC3E}">
        <p14:creationId xmlns:p14="http://schemas.microsoft.com/office/powerpoint/2010/main" val="671816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5. Details of designs, working &amp; processes</a:t>
            </a:r>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17</a:t>
            </a:fld>
            <a:endParaRPr lang="en-US"/>
          </a:p>
        </p:txBody>
      </p:sp>
      <p:sp>
        <p:nvSpPr>
          <p:cNvPr id="17" name="Rectangle 16">
            <a:extLst>
              <a:ext uri="{FF2B5EF4-FFF2-40B4-BE49-F238E27FC236}">
                <a16:creationId xmlns:a16="http://schemas.microsoft.com/office/drawing/2014/main" id="{3A017C5F-48C5-3EFA-B1A3-9FE2C0534FB8}"/>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0" name="Content Placeholder 9">
            <a:extLst>
              <a:ext uri="{FF2B5EF4-FFF2-40B4-BE49-F238E27FC236}">
                <a16:creationId xmlns:a16="http://schemas.microsoft.com/office/drawing/2014/main" id="{9037517E-2A0D-4457-B78F-A82F9AB6B2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7170" y="1250950"/>
            <a:ext cx="4789330" cy="4831556"/>
          </a:xfrm>
          <a:prstGeom prst="rect">
            <a:avLst/>
          </a:prstGeom>
          <a:solidFill>
            <a:prstClr val="white"/>
          </a:solidFill>
          <a:ln w="25400" cap="flat" cmpd="sng" algn="ctr">
            <a:solidFill>
              <a:srgbClr val="4F81BD"/>
            </a:solidFill>
            <a:prstDash val="solid"/>
          </a:ln>
          <a:effectLst/>
        </p:spPr>
      </p:pic>
      <p:sp>
        <p:nvSpPr>
          <p:cNvPr id="11" name="TextBox 10">
            <a:extLst>
              <a:ext uri="{FF2B5EF4-FFF2-40B4-BE49-F238E27FC236}">
                <a16:creationId xmlns:a16="http://schemas.microsoft.com/office/drawing/2014/main" id="{6132727F-EC92-0BB5-97FC-44B1A9583E53}"/>
              </a:ext>
            </a:extLst>
          </p:cNvPr>
          <p:cNvSpPr txBox="1"/>
          <p:nvPr/>
        </p:nvSpPr>
        <p:spPr>
          <a:xfrm>
            <a:off x="2362200" y="6034762"/>
            <a:ext cx="3657600" cy="369332"/>
          </a:xfrm>
          <a:prstGeom prst="rect">
            <a:avLst/>
          </a:prstGeom>
          <a:noFill/>
        </p:spPr>
        <p:txBody>
          <a:bodyPr wrap="square" rtlCol="0">
            <a:spAutoFit/>
          </a:bodyPr>
          <a:lstStyle/>
          <a:p>
            <a:r>
              <a:rPr lang="en-US" dirty="0"/>
              <a:t>Fig.CO-Attainment Process</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 Results and Applications</a:t>
            </a:r>
          </a:p>
        </p:txBody>
      </p:sp>
      <p:pic>
        <p:nvPicPr>
          <p:cNvPr id="8" name="Content Placeholder 7">
            <a:extLst>
              <a:ext uri="{FF2B5EF4-FFF2-40B4-BE49-F238E27FC236}">
                <a16:creationId xmlns:a16="http://schemas.microsoft.com/office/drawing/2014/main" id="{EBFACB77-85C7-50BB-5E9D-5CFEF2DF76E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1323848"/>
            <a:ext cx="4133850" cy="4890151"/>
          </a:xfrm>
          <a:prstGeom prst="rect">
            <a:avLst/>
          </a:prstGeom>
          <a:solidFill>
            <a:prstClr val="white"/>
          </a:solidFill>
          <a:ln w="25400" cap="flat" cmpd="sng" algn="ctr">
            <a:solidFill>
              <a:srgbClr val="4F81BD"/>
            </a:solidFill>
            <a:prstDash val="solid"/>
          </a:ln>
          <a:effectLst/>
        </p:spPr>
      </p:pic>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18</a:t>
            </a:fld>
            <a:endParaRPr lang="en-US"/>
          </a:p>
        </p:txBody>
      </p:sp>
      <p:sp>
        <p:nvSpPr>
          <p:cNvPr id="9" name="Rectangle 8">
            <a:extLst>
              <a:ext uri="{FF2B5EF4-FFF2-40B4-BE49-F238E27FC236}">
                <a16:creationId xmlns:a16="http://schemas.microsoft.com/office/drawing/2014/main" id="{756EDB24-D225-C87D-7669-F22096F41DF7}"/>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FC8C3CBD-6E02-7483-EE94-C133AF934C2A}"/>
              </a:ext>
            </a:extLst>
          </p:cNvPr>
          <p:cNvSpPr txBox="1"/>
          <p:nvPr/>
        </p:nvSpPr>
        <p:spPr>
          <a:xfrm>
            <a:off x="4953000" y="1323848"/>
            <a:ext cx="3581400" cy="4613058"/>
          </a:xfrm>
          <a:prstGeom prst="rect">
            <a:avLst/>
          </a:prstGeom>
          <a:noFill/>
        </p:spPr>
        <p:txBody>
          <a:bodyPr wrap="square" rtlCol="0">
            <a:spAutoFit/>
          </a:bodyPr>
          <a:lstStyle/>
          <a:p>
            <a:pPr algn="just">
              <a:lnSpc>
                <a:spcPct val="150000"/>
              </a:lnSpc>
            </a:pPr>
            <a:r>
              <a:rPr lang="en-US" b="1" u="sng" dirty="0">
                <a:latin typeface="Times New Roman" panose="02020603050405020304" pitchFamily="18" charset="0"/>
                <a:cs typeface="Times New Roman" panose="02020603050405020304" pitchFamily="18" charset="0"/>
              </a:rPr>
              <a:t>Home Page :-</a:t>
            </a:r>
          </a:p>
          <a:p>
            <a:pPr algn="just">
              <a:lnSpc>
                <a:spcPct val="150000"/>
              </a:lnSpc>
            </a:pPr>
            <a:r>
              <a:rPr lang="en-US" dirty="0">
                <a:latin typeface="Times New Roman" panose="02020603050405020304" pitchFamily="18" charset="0"/>
                <a:cs typeface="Times New Roman" panose="02020603050405020304" pitchFamily="18" charset="0"/>
              </a:rPr>
              <a:t>This is the home page of the CO Attainment System. It provides an overview of the system and its purpose, which is to calculate Course Outcome attainment automatically. The page also displays the institute and department vision and mission to highlight the academic objectives of the institution.</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7FB8E-1884-2A2C-ECA6-494943324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BBF17-B634-D9BE-B280-CC19DDAE7B5E}"/>
              </a:ext>
            </a:extLst>
          </p:cNvPr>
          <p:cNvSpPr>
            <a:spLocks noGrp="1"/>
          </p:cNvSpPr>
          <p:nvPr>
            <p:ph type="title"/>
          </p:nvPr>
        </p:nvSpPr>
        <p:spPr/>
        <p:txBody>
          <a:bodyPr>
            <a:normAutofit fontScale="90000"/>
          </a:bodyPr>
          <a:lstStyle/>
          <a:p>
            <a:r>
              <a:rPr lang="en-US" dirty="0"/>
              <a:t>6. Results and Applications</a:t>
            </a:r>
          </a:p>
        </p:txBody>
      </p:sp>
      <p:sp>
        <p:nvSpPr>
          <p:cNvPr id="4" name="Date Placeholder 3">
            <a:extLst>
              <a:ext uri="{FF2B5EF4-FFF2-40B4-BE49-F238E27FC236}">
                <a16:creationId xmlns:a16="http://schemas.microsoft.com/office/drawing/2014/main" id="{03CFC4A7-7F4D-25EB-B31D-0ADBB95AF6EE}"/>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9459C289-97BD-200C-F01A-ADC35C1BFDA3}"/>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6684609B-ABB2-23F1-D929-5BD9FDCE9352}"/>
              </a:ext>
            </a:extLst>
          </p:cNvPr>
          <p:cNvSpPr>
            <a:spLocks noGrp="1"/>
          </p:cNvSpPr>
          <p:nvPr>
            <p:ph type="sldNum" sz="quarter" idx="12"/>
          </p:nvPr>
        </p:nvSpPr>
        <p:spPr/>
        <p:txBody>
          <a:bodyPr/>
          <a:lstStyle/>
          <a:p>
            <a:fld id="{4AF1F8D0-972F-472E-AFE5-1F27E299DB0B}" type="slidenum">
              <a:rPr lang="en-US" smtClean="0"/>
              <a:pPr/>
              <a:t>19</a:t>
            </a:fld>
            <a:endParaRPr lang="en-US"/>
          </a:p>
        </p:txBody>
      </p:sp>
      <p:sp>
        <p:nvSpPr>
          <p:cNvPr id="9" name="Rectangle 8">
            <a:extLst>
              <a:ext uri="{FF2B5EF4-FFF2-40B4-BE49-F238E27FC236}">
                <a16:creationId xmlns:a16="http://schemas.microsoft.com/office/drawing/2014/main" id="{CCC74853-E317-B9F0-F418-CEC08EA79B73}"/>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1" name="Content Placeholder 10">
            <a:extLst>
              <a:ext uri="{FF2B5EF4-FFF2-40B4-BE49-F238E27FC236}">
                <a16:creationId xmlns:a16="http://schemas.microsoft.com/office/drawing/2014/main" id="{EB34A6D6-7F1E-AAA9-6D6C-FC9463E12CA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62000" y="1190534"/>
            <a:ext cx="7620000" cy="3617784"/>
          </a:xfrm>
          <a:prstGeom prst="rect">
            <a:avLst/>
          </a:prstGeom>
          <a:solidFill>
            <a:prstClr val="white"/>
          </a:solidFill>
          <a:ln w="25400" cap="flat" cmpd="sng" algn="ctr">
            <a:solidFill>
              <a:srgbClr val="4F81BD"/>
            </a:solidFill>
            <a:prstDash val="solid"/>
          </a:ln>
          <a:effectLst/>
        </p:spPr>
      </p:pic>
      <p:sp>
        <p:nvSpPr>
          <p:cNvPr id="12" name="TextBox 11">
            <a:extLst>
              <a:ext uri="{FF2B5EF4-FFF2-40B4-BE49-F238E27FC236}">
                <a16:creationId xmlns:a16="http://schemas.microsoft.com/office/drawing/2014/main" id="{AD197874-F6B3-650C-0539-E84A12A51098}"/>
              </a:ext>
            </a:extLst>
          </p:cNvPr>
          <p:cNvSpPr txBox="1"/>
          <p:nvPr/>
        </p:nvSpPr>
        <p:spPr>
          <a:xfrm>
            <a:off x="762000" y="4730050"/>
            <a:ext cx="7543800" cy="1704569"/>
          </a:xfrm>
          <a:prstGeom prst="rect">
            <a:avLst/>
          </a:prstGeom>
          <a:noFill/>
        </p:spPr>
        <p:txBody>
          <a:bodyPr wrap="square" rtlCol="0">
            <a:spAutoFit/>
          </a:bodyPr>
          <a:lstStyle/>
          <a:p>
            <a:pPr algn="just">
              <a:lnSpc>
                <a:spcPct val="150000"/>
              </a:lnSpc>
            </a:pPr>
            <a:r>
              <a:rPr lang="en-US" b="1" u="sng" dirty="0">
                <a:latin typeface="Times New Roman" panose="02020603050405020304" pitchFamily="18" charset="0"/>
                <a:cs typeface="Times New Roman" panose="02020603050405020304" pitchFamily="18" charset="0"/>
              </a:rPr>
              <a:t>Login Page:- </a:t>
            </a:r>
            <a:r>
              <a:rPr lang="en-US" dirty="0">
                <a:latin typeface="Times New Roman" panose="02020603050405020304" pitchFamily="18" charset="0"/>
                <a:cs typeface="Times New Roman" panose="02020603050405020304" pitchFamily="18" charset="0"/>
              </a:rPr>
              <a:t>This page provides secure access to the system through the Admin login interface. The administrator enters valid login credentials to access the system. After successful login, the admin can manage academic batches, courses, and CO attainment related data within the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532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0C218-3D68-B291-069E-A255CBBAA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AFE9E-21ED-45F6-3BB2-90A41C95C59F}"/>
              </a:ext>
            </a:extLst>
          </p:cNvPr>
          <p:cNvSpPr>
            <a:spLocks noGrp="1"/>
          </p:cNvSpPr>
          <p:nvPr>
            <p:ph type="title"/>
          </p:nvPr>
        </p:nvSpPr>
        <p:spPr/>
        <p:txBody>
          <a:bodyPr>
            <a:normAutofit fontScale="90000"/>
          </a:bodyPr>
          <a:lstStyle/>
          <a:p>
            <a:r>
              <a:rPr lang="en-US" dirty="0"/>
              <a:t>6. Results and Applications</a:t>
            </a:r>
          </a:p>
        </p:txBody>
      </p:sp>
      <p:sp>
        <p:nvSpPr>
          <p:cNvPr id="4" name="Date Placeholder 3">
            <a:extLst>
              <a:ext uri="{FF2B5EF4-FFF2-40B4-BE49-F238E27FC236}">
                <a16:creationId xmlns:a16="http://schemas.microsoft.com/office/drawing/2014/main" id="{03844A7A-1532-21D7-1B38-28ED9A4A77EB}"/>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58A8C52C-138D-25A8-0EAE-EB90F8EEB9F8}"/>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51851CD2-B113-23D4-7CBF-1DD5369EF59A}"/>
              </a:ext>
            </a:extLst>
          </p:cNvPr>
          <p:cNvSpPr>
            <a:spLocks noGrp="1"/>
          </p:cNvSpPr>
          <p:nvPr>
            <p:ph type="sldNum" sz="quarter" idx="12"/>
          </p:nvPr>
        </p:nvSpPr>
        <p:spPr/>
        <p:txBody>
          <a:bodyPr/>
          <a:lstStyle/>
          <a:p>
            <a:fld id="{4AF1F8D0-972F-472E-AFE5-1F27E299DB0B}" type="slidenum">
              <a:rPr lang="en-US" smtClean="0"/>
              <a:pPr/>
              <a:t>20</a:t>
            </a:fld>
            <a:endParaRPr lang="en-US"/>
          </a:p>
        </p:txBody>
      </p:sp>
      <p:sp>
        <p:nvSpPr>
          <p:cNvPr id="9" name="Rectangle 8">
            <a:extLst>
              <a:ext uri="{FF2B5EF4-FFF2-40B4-BE49-F238E27FC236}">
                <a16:creationId xmlns:a16="http://schemas.microsoft.com/office/drawing/2014/main" id="{5668F514-0E2F-8987-ADB5-A71D67DB3344}"/>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1" name="Content Placeholder 10">
            <a:extLst>
              <a:ext uri="{FF2B5EF4-FFF2-40B4-BE49-F238E27FC236}">
                <a16:creationId xmlns:a16="http://schemas.microsoft.com/office/drawing/2014/main" id="{0B57513E-3D05-1E4E-7C5E-85077406AD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210153"/>
            <a:ext cx="7924800" cy="3925367"/>
          </a:xfrm>
          <a:prstGeom prst="rect">
            <a:avLst/>
          </a:prstGeom>
          <a:solidFill>
            <a:prstClr val="white"/>
          </a:solidFill>
          <a:ln w="25400" cap="flat" cmpd="sng" algn="ctr">
            <a:solidFill>
              <a:srgbClr val="4F81BD"/>
            </a:solidFill>
            <a:prstDash val="solid"/>
          </a:ln>
          <a:effectLst/>
        </p:spPr>
      </p:pic>
      <p:sp>
        <p:nvSpPr>
          <p:cNvPr id="13" name="TextBox 12">
            <a:extLst>
              <a:ext uri="{FF2B5EF4-FFF2-40B4-BE49-F238E27FC236}">
                <a16:creationId xmlns:a16="http://schemas.microsoft.com/office/drawing/2014/main" id="{3B583064-6AD1-C69D-096D-A0B08C18667E}"/>
              </a:ext>
            </a:extLst>
          </p:cNvPr>
          <p:cNvSpPr txBox="1"/>
          <p:nvPr/>
        </p:nvSpPr>
        <p:spPr>
          <a:xfrm>
            <a:off x="598714" y="5170080"/>
            <a:ext cx="7924800" cy="1289071"/>
          </a:xfrm>
          <a:prstGeom prst="rect">
            <a:avLst/>
          </a:prstGeom>
          <a:noFill/>
        </p:spPr>
        <p:txBody>
          <a:bodyPr wrap="square">
            <a:spAutoFit/>
          </a:bodyPr>
          <a:lstStyle/>
          <a:p>
            <a:pPr algn="just">
              <a:lnSpc>
                <a:spcPct val="150000"/>
              </a:lnSpc>
            </a:pPr>
            <a:r>
              <a:rPr lang="en-US" b="1" u="sng" dirty="0">
                <a:latin typeface="Times New Roman" panose="02020603050405020304" pitchFamily="18" charset="0"/>
                <a:cs typeface="Times New Roman" panose="02020603050405020304" pitchFamily="18" charset="0"/>
              </a:rPr>
              <a:t>Admin Dashboard (Create Batch):- </a:t>
            </a:r>
            <a:r>
              <a:rPr lang="en-US" dirty="0">
                <a:latin typeface="Times New Roman" panose="02020603050405020304" pitchFamily="18" charset="0"/>
                <a:cs typeface="Times New Roman" panose="02020603050405020304" pitchFamily="18" charset="0"/>
              </a:rPr>
              <a:t>This page allows the admin to create and manage academic batches. The admin enters important details . These details help organize student and course information for CO attainment calculation.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3399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7A12F-1433-AA29-7497-4B46F61A0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A3096-87F5-35E4-8ABD-ADD273EC3B7A}"/>
              </a:ext>
            </a:extLst>
          </p:cNvPr>
          <p:cNvSpPr>
            <a:spLocks noGrp="1"/>
          </p:cNvSpPr>
          <p:nvPr>
            <p:ph type="title"/>
          </p:nvPr>
        </p:nvSpPr>
        <p:spPr/>
        <p:txBody>
          <a:bodyPr>
            <a:normAutofit fontScale="90000"/>
          </a:bodyPr>
          <a:lstStyle/>
          <a:p>
            <a:r>
              <a:rPr lang="en-US" dirty="0"/>
              <a:t>6. Results and Applications</a:t>
            </a:r>
          </a:p>
        </p:txBody>
      </p:sp>
      <p:sp>
        <p:nvSpPr>
          <p:cNvPr id="4" name="Date Placeholder 3">
            <a:extLst>
              <a:ext uri="{FF2B5EF4-FFF2-40B4-BE49-F238E27FC236}">
                <a16:creationId xmlns:a16="http://schemas.microsoft.com/office/drawing/2014/main" id="{AA2D9EE6-8B4E-B044-D1E5-27CACC378734}"/>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9F9EEDAA-67DB-B3C4-BC58-69494A864B4B}"/>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89B83450-A04A-F759-2486-C8CD89A13081}"/>
              </a:ext>
            </a:extLst>
          </p:cNvPr>
          <p:cNvSpPr>
            <a:spLocks noGrp="1"/>
          </p:cNvSpPr>
          <p:nvPr>
            <p:ph type="sldNum" sz="quarter" idx="12"/>
          </p:nvPr>
        </p:nvSpPr>
        <p:spPr/>
        <p:txBody>
          <a:bodyPr/>
          <a:lstStyle/>
          <a:p>
            <a:fld id="{4AF1F8D0-972F-472E-AFE5-1F27E299DB0B}" type="slidenum">
              <a:rPr lang="en-US" smtClean="0"/>
              <a:pPr/>
              <a:t>21</a:t>
            </a:fld>
            <a:endParaRPr lang="en-US"/>
          </a:p>
        </p:txBody>
      </p:sp>
      <p:sp>
        <p:nvSpPr>
          <p:cNvPr id="9" name="Rectangle 8">
            <a:extLst>
              <a:ext uri="{FF2B5EF4-FFF2-40B4-BE49-F238E27FC236}">
                <a16:creationId xmlns:a16="http://schemas.microsoft.com/office/drawing/2014/main" id="{32097DB1-20DE-6991-3348-941B5EC64AA3}"/>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5" name="Content Placeholder 14">
            <a:extLst>
              <a:ext uri="{FF2B5EF4-FFF2-40B4-BE49-F238E27FC236}">
                <a16:creationId xmlns:a16="http://schemas.microsoft.com/office/drawing/2014/main" id="{789939BE-F9E1-C873-F8C0-A7434F0C82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5589" y="1219200"/>
            <a:ext cx="7848600" cy="4038600"/>
          </a:xfrm>
          <a:prstGeom prst="rect">
            <a:avLst/>
          </a:prstGeom>
          <a:solidFill>
            <a:prstClr val="white"/>
          </a:solidFill>
          <a:ln w="25400" cap="flat" cmpd="sng" algn="ctr">
            <a:solidFill>
              <a:srgbClr val="4F81BD"/>
            </a:solidFill>
            <a:prstDash val="solid"/>
          </a:ln>
          <a:effectLst/>
        </p:spPr>
      </p:pic>
      <p:sp>
        <p:nvSpPr>
          <p:cNvPr id="18" name="TextBox 17">
            <a:extLst>
              <a:ext uri="{FF2B5EF4-FFF2-40B4-BE49-F238E27FC236}">
                <a16:creationId xmlns:a16="http://schemas.microsoft.com/office/drawing/2014/main" id="{FD7D4D04-0E69-8F61-A777-DD36346F6EE0}"/>
              </a:ext>
            </a:extLst>
          </p:cNvPr>
          <p:cNvSpPr txBox="1"/>
          <p:nvPr/>
        </p:nvSpPr>
        <p:spPr>
          <a:xfrm>
            <a:off x="605589" y="5170291"/>
            <a:ext cx="7848600" cy="1295868"/>
          </a:xfrm>
          <a:prstGeom prst="rect">
            <a:avLst/>
          </a:prstGeom>
          <a:noFill/>
        </p:spPr>
        <p:txBody>
          <a:bodyPr wrap="square">
            <a:spAutoFit/>
          </a:bodyPr>
          <a:lstStyle/>
          <a:p>
            <a:pPr algn="just">
              <a:lnSpc>
                <a:spcPct val="150000"/>
              </a:lnSpc>
            </a:pPr>
            <a:r>
              <a:rPr lang="en-US" b="1" u="sng" dirty="0"/>
              <a:t>Manage Batches:- </a:t>
            </a:r>
            <a:r>
              <a:rPr lang="en-US" dirty="0"/>
              <a:t>This page displays all the created batches in the system. The admin manage batch information and check the number of students and subjects in each batch. It helps in managing academic records efficiently.</a:t>
            </a:r>
            <a:endParaRPr lang="en-IN" dirty="0"/>
          </a:p>
        </p:txBody>
      </p:sp>
    </p:spTree>
    <p:extLst>
      <p:ext uri="{BB962C8B-B14F-4D97-AF65-F5344CB8AC3E}">
        <p14:creationId xmlns:p14="http://schemas.microsoft.com/office/powerpoint/2010/main" val="2031301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6226-F91D-94EE-6CC7-3F533F105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28203-77E4-4DC2-8316-3C613A979AB5}"/>
              </a:ext>
            </a:extLst>
          </p:cNvPr>
          <p:cNvSpPr>
            <a:spLocks noGrp="1"/>
          </p:cNvSpPr>
          <p:nvPr>
            <p:ph type="title"/>
          </p:nvPr>
        </p:nvSpPr>
        <p:spPr/>
        <p:txBody>
          <a:bodyPr>
            <a:normAutofit fontScale="90000"/>
          </a:bodyPr>
          <a:lstStyle/>
          <a:p>
            <a:r>
              <a:rPr lang="en-US" dirty="0"/>
              <a:t>6. Results and Applications</a:t>
            </a:r>
          </a:p>
        </p:txBody>
      </p:sp>
      <p:sp>
        <p:nvSpPr>
          <p:cNvPr id="4" name="Date Placeholder 3">
            <a:extLst>
              <a:ext uri="{FF2B5EF4-FFF2-40B4-BE49-F238E27FC236}">
                <a16:creationId xmlns:a16="http://schemas.microsoft.com/office/drawing/2014/main" id="{D7355B37-76F0-B831-385D-A064465529D8}"/>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FE18B50F-87F7-C343-2C1B-AD4EC4EF9874}"/>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9C29C076-AA68-879F-45C9-6F55E595D412}"/>
              </a:ext>
            </a:extLst>
          </p:cNvPr>
          <p:cNvSpPr>
            <a:spLocks noGrp="1"/>
          </p:cNvSpPr>
          <p:nvPr>
            <p:ph type="sldNum" sz="quarter" idx="12"/>
          </p:nvPr>
        </p:nvSpPr>
        <p:spPr/>
        <p:txBody>
          <a:bodyPr/>
          <a:lstStyle/>
          <a:p>
            <a:fld id="{4AF1F8D0-972F-472E-AFE5-1F27E299DB0B}" type="slidenum">
              <a:rPr lang="en-US" smtClean="0"/>
              <a:pPr/>
              <a:t>22</a:t>
            </a:fld>
            <a:endParaRPr lang="en-US"/>
          </a:p>
        </p:txBody>
      </p:sp>
      <p:sp>
        <p:nvSpPr>
          <p:cNvPr id="9" name="Rectangle 8">
            <a:extLst>
              <a:ext uri="{FF2B5EF4-FFF2-40B4-BE49-F238E27FC236}">
                <a16:creationId xmlns:a16="http://schemas.microsoft.com/office/drawing/2014/main" id="{051D8768-C942-1955-19AD-08D67B14F203}"/>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5" name="Content Placeholder 14">
            <a:extLst>
              <a:ext uri="{FF2B5EF4-FFF2-40B4-BE49-F238E27FC236}">
                <a16:creationId xmlns:a16="http://schemas.microsoft.com/office/drawing/2014/main" id="{EFC44E33-1093-4DF1-20DB-7ABDA9913F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1" y="1199555"/>
            <a:ext cx="4953000" cy="5138738"/>
          </a:xfrm>
          <a:prstGeom prst="rect">
            <a:avLst/>
          </a:prstGeom>
          <a:solidFill>
            <a:prstClr val="white"/>
          </a:solidFill>
          <a:ln w="25400" cap="flat" cmpd="sng" algn="ctr">
            <a:solidFill>
              <a:srgbClr val="4F81BD"/>
            </a:solidFill>
            <a:prstDash val="solid"/>
          </a:ln>
          <a:effectLst/>
        </p:spPr>
      </p:pic>
      <p:sp>
        <p:nvSpPr>
          <p:cNvPr id="17" name="TextBox 16">
            <a:extLst>
              <a:ext uri="{FF2B5EF4-FFF2-40B4-BE49-F238E27FC236}">
                <a16:creationId xmlns:a16="http://schemas.microsoft.com/office/drawing/2014/main" id="{9DC9C50A-3130-709C-CB36-9F0C9FE9C0F6}"/>
              </a:ext>
            </a:extLst>
          </p:cNvPr>
          <p:cNvSpPr txBox="1"/>
          <p:nvPr/>
        </p:nvSpPr>
        <p:spPr>
          <a:xfrm>
            <a:off x="5731043" y="1199555"/>
            <a:ext cx="2819398" cy="5028556"/>
          </a:xfrm>
          <a:prstGeom prst="rect">
            <a:avLst/>
          </a:prstGeom>
          <a:noFill/>
        </p:spPr>
        <p:txBody>
          <a:bodyPr wrap="square" rtlCol="0">
            <a:spAutoFit/>
          </a:bodyPr>
          <a:lstStyle/>
          <a:p>
            <a:pPr algn="just">
              <a:lnSpc>
                <a:spcPct val="150000"/>
              </a:lnSpc>
            </a:pPr>
            <a:r>
              <a:rPr lang="en-US" b="1" u="sng" dirty="0">
                <a:latin typeface="Times New Roman" panose="02020603050405020304" pitchFamily="18" charset="0"/>
                <a:cs typeface="Times New Roman" panose="02020603050405020304" pitchFamily="18" charset="0"/>
              </a:rPr>
              <a:t>Course Configuration:-</a:t>
            </a:r>
            <a:r>
              <a:rPr lang="en-US" dirty="0">
                <a:latin typeface="Times New Roman" panose="02020603050405020304" pitchFamily="18" charset="0"/>
                <a:cs typeface="Times New Roman" panose="02020603050405020304" pitchFamily="18" charset="0"/>
              </a:rPr>
              <a:t>This interface shows the Teacher Module, where teachers configure course details and define Course Outcomes (COs). It also provides different assessment processes such as PO Matrix mapping, class test analysis, assignment evaluation, and overall attainment calculation.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5388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53D51-F8B7-D16A-C80E-5ACC0FBA2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70F4A-C0D8-C9FF-7D8A-586FB15F4E21}"/>
              </a:ext>
            </a:extLst>
          </p:cNvPr>
          <p:cNvSpPr>
            <a:spLocks noGrp="1"/>
          </p:cNvSpPr>
          <p:nvPr>
            <p:ph type="title"/>
          </p:nvPr>
        </p:nvSpPr>
        <p:spPr/>
        <p:txBody>
          <a:bodyPr>
            <a:normAutofit fontScale="90000"/>
          </a:bodyPr>
          <a:lstStyle/>
          <a:p>
            <a:r>
              <a:rPr lang="en-US" dirty="0"/>
              <a:t>6. Results and Applications</a:t>
            </a:r>
          </a:p>
        </p:txBody>
      </p:sp>
      <p:sp>
        <p:nvSpPr>
          <p:cNvPr id="4" name="Date Placeholder 3">
            <a:extLst>
              <a:ext uri="{FF2B5EF4-FFF2-40B4-BE49-F238E27FC236}">
                <a16:creationId xmlns:a16="http://schemas.microsoft.com/office/drawing/2014/main" id="{E0CE04CB-AA5D-7DDE-CDFC-E5445FBA6686}"/>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43B4FB42-6EAE-FA89-0FCF-D49BBC5F1A3E}"/>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3DB7C30F-6BF6-8D28-BC65-B1FAB411309B}"/>
              </a:ext>
            </a:extLst>
          </p:cNvPr>
          <p:cNvSpPr>
            <a:spLocks noGrp="1"/>
          </p:cNvSpPr>
          <p:nvPr>
            <p:ph type="sldNum" sz="quarter" idx="12"/>
          </p:nvPr>
        </p:nvSpPr>
        <p:spPr/>
        <p:txBody>
          <a:bodyPr/>
          <a:lstStyle/>
          <a:p>
            <a:fld id="{4AF1F8D0-972F-472E-AFE5-1F27E299DB0B}" type="slidenum">
              <a:rPr lang="en-US" smtClean="0"/>
              <a:pPr/>
              <a:t>23</a:t>
            </a:fld>
            <a:endParaRPr lang="en-US"/>
          </a:p>
        </p:txBody>
      </p:sp>
      <p:sp>
        <p:nvSpPr>
          <p:cNvPr id="9" name="Rectangle 8">
            <a:extLst>
              <a:ext uri="{FF2B5EF4-FFF2-40B4-BE49-F238E27FC236}">
                <a16:creationId xmlns:a16="http://schemas.microsoft.com/office/drawing/2014/main" id="{787E3694-79B6-B8E0-CB73-60E921FA93B1}"/>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3" name="Content Placeholder 12">
            <a:extLst>
              <a:ext uri="{FF2B5EF4-FFF2-40B4-BE49-F238E27FC236}">
                <a16:creationId xmlns:a16="http://schemas.microsoft.com/office/drawing/2014/main" id="{D5B9C556-9270-FEB9-9E65-2EE21A4489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219201"/>
            <a:ext cx="7924800" cy="3657599"/>
          </a:xfrm>
          <a:prstGeom prst="rect">
            <a:avLst/>
          </a:prstGeom>
          <a:solidFill>
            <a:prstClr val="white"/>
          </a:solidFill>
          <a:ln w="25400" cap="flat" cmpd="sng" algn="ctr">
            <a:solidFill>
              <a:srgbClr val="4F81BD"/>
            </a:solidFill>
            <a:prstDash val="solid"/>
          </a:ln>
          <a:effectLst/>
        </p:spPr>
      </p:pic>
      <p:sp>
        <p:nvSpPr>
          <p:cNvPr id="14" name="TextBox 13">
            <a:extLst>
              <a:ext uri="{FF2B5EF4-FFF2-40B4-BE49-F238E27FC236}">
                <a16:creationId xmlns:a16="http://schemas.microsoft.com/office/drawing/2014/main" id="{9ED9E6A2-14DC-ADBA-FC47-67D4C3B6F385}"/>
              </a:ext>
            </a:extLst>
          </p:cNvPr>
          <p:cNvSpPr txBox="1"/>
          <p:nvPr/>
        </p:nvSpPr>
        <p:spPr>
          <a:xfrm>
            <a:off x="609600" y="4786514"/>
            <a:ext cx="7924800" cy="1704569"/>
          </a:xfrm>
          <a:prstGeom prst="rect">
            <a:avLst/>
          </a:prstGeom>
          <a:noFill/>
        </p:spPr>
        <p:txBody>
          <a:bodyPr wrap="square" rtlCol="0">
            <a:spAutoFit/>
          </a:bodyPr>
          <a:lstStyle/>
          <a:p>
            <a:pPr algn="just">
              <a:lnSpc>
                <a:spcPct val="150000"/>
              </a:lnSpc>
            </a:pPr>
            <a:r>
              <a:rPr lang="en-US" b="1" u="sng" dirty="0">
                <a:latin typeface="Times New Roman" panose="02020603050405020304" pitchFamily="18" charset="0"/>
                <a:cs typeface="Times New Roman" panose="02020603050405020304" pitchFamily="18" charset="0"/>
              </a:rPr>
              <a:t>Plan PO Matrix Interface:-</a:t>
            </a:r>
            <a:r>
              <a:rPr lang="en-US" dirty="0">
                <a:latin typeface="Times New Roman" panose="02020603050405020304" pitchFamily="18" charset="0"/>
                <a:cs typeface="Times New Roman" panose="02020603050405020304" pitchFamily="18" charset="0"/>
              </a:rPr>
              <a:t>This interface shows the CO-PO &amp; CO-PSO Matrix, where Course Outcomes are mapped with Program Outcomes and PSOs. The course and subject details configured in the Admin Panel are automatically reflected here, enabling teachers to define and save the PO mapping for assessment.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408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4060-0E39-B316-7CD8-2BBCF9AF5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5134C-30CF-941A-D267-AE55CB60591C}"/>
              </a:ext>
            </a:extLst>
          </p:cNvPr>
          <p:cNvSpPr>
            <a:spLocks noGrp="1"/>
          </p:cNvSpPr>
          <p:nvPr>
            <p:ph type="title"/>
          </p:nvPr>
        </p:nvSpPr>
        <p:spPr/>
        <p:txBody>
          <a:bodyPr>
            <a:normAutofit fontScale="90000"/>
          </a:bodyPr>
          <a:lstStyle/>
          <a:p>
            <a:r>
              <a:rPr lang="en-US" dirty="0"/>
              <a:t>6. Results and Applications</a:t>
            </a:r>
          </a:p>
        </p:txBody>
      </p:sp>
      <p:sp>
        <p:nvSpPr>
          <p:cNvPr id="4" name="Date Placeholder 3">
            <a:extLst>
              <a:ext uri="{FF2B5EF4-FFF2-40B4-BE49-F238E27FC236}">
                <a16:creationId xmlns:a16="http://schemas.microsoft.com/office/drawing/2014/main" id="{63AFB63C-0600-507A-A809-8AD3C91FED52}"/>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DB7FA143-E864-71EC-5329-2E5518131ED6}"/>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0751D687-37FD-DAD4-DE50-FB587BA284DD}"/>
              </a:ext>
            </a:extLst>
          </p:cNvPr>
          <p:cNvSpPr>
            <a:spLocks noGrp="1"/>
          </p:cNvSpPr>
          <p:nvPr>
            <p:ph type="sldNum" sz="quarter" idx="12"/>
          </p:nvPr>
        </p:nvSpPr>
        <p:spPr/>
        <p:txBody>
          <a:bodyPr/>
          <a:lstStyle/>
          <a:p>
            <a:fld id="{4AF1F8D0-972F-472E-AFE5-1F27E299DB0B}" type="slidenum">
              <a:rPr lang="en-US" smtClean="0"/>
              <a:pPr/>
              <a:t>24</a:t>
            </a:fld>
            <a:endParaRPr lang="en-US"/>
          </a:p>
        </p:txBody>
      </p:sp>
      <p:sp>
        <p:nvSpPr>
          <p:cNvPr id="9" name="Rectangle 8">
            <a:extLst>
              <a:ext uri="{FF2B5EF4-FFF2-40B4-BE49-F238E27FC236}">
                <a16:creationId xmlns:a16="http://schemas.microsoft.com/office/drawing/2014/main" id="{37C105E1-4DFA-B182-0BEE-FB9D4FF231BF}"/>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8" name="Content Placeholder 7">
            <a:extLst>
              <a:ext uri="{FF2B5EF4-FFF2-40B4-BE49-F238E27FC236}">
                <a16:creationId xmlns:a16="http://schemas.microsoft.com/office/drawing/2014/main" id="{CC60E0D3-490B-846A-F001-D72403F356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219200"/>
            <a:ext cx="8001000" cy="4001643"/>
          </a:xfrm>
          <a:prstGeom prst="rect">
            <a:avLst/>
          </a:prstGeom>
          <a:solidFill>
            <a:prstClr val="white"/>
          </a:solidFill>
          <a:ln w="25400" cap="flat" cmpd="sng" algn="ctr">
            <a:solidFill>
              <a:srgbClr val="4F81BD"/>
            </a:solidFill>
            <a:prstDash val="solid"/>
          </a:ln>
          <a:effectLst/>
        </p:spPr>
      </p:pic>
      <p:sp>
        <p:nvSpPr>
          <p:cNvPr id="12" name="TextBox 11">
            <a:extLst>
              <a:ext uri="{FF2B5EF4-FFF2-40B4-BE49-F238E27FC236}">
                <a16:creationId xmlns:a16="http://schemas.microsoft.com/office/drawing/2014/main" id="{79D7AE90-2C10-26C1-10AD-423A836AB764}"/>
              </a:ext>
            </a:extLst>
          </p:cNvPr>
          <p:cNvSpPr txBox="1"/>
          <p:nvPr/>
        </p:nvSpPr>
        <p:spPr>
          <a:xfrm>
            <a:off x="546234" y="5127419"/>
            <a:ext cx="8001000" cy="1289071"/>
          </a:xfrm>
          <a:prstGeom prst="rect">
            <a:avLst/>
          </a:prstGeom>
          <a:noFill/>
        </p:spPr>
        <p:txBody>
          <a:bodyPr wrap="square">
            <a:spAutoFit/>
          </a:bodyPr>
          <a:lstStyle/>
          <a:p>
            <a:pPr algn="just">
              <a:lnSpc>
                <a:spcPct val="150000"/>
              </a:lnSpc>
            </a:pPr>
            <a:r>
              <a:rPr lang="en-US" b="1" u="sng" dirty="0">
                <a:latin typeface="Times New Roman" panose="02020603050405020304" pitchFamily="18" charset="0"/>
                <a:cs typeface="Times New Roman" panose="02020603050405020304" pitchFamily="18" charset="0"/>
              </a:rPr>
              <a:t>Class Test Interface:- </a:t>
            </a:r>
            <a:r>
              <a:rPr lang="en-US" dirty="0">
                <a:latin typeface="Times New Roman" panose="02020603050405020304" pitchFamily="18" charset="0"/>
                <a:cs typeface="Times New Roman" panose="02020603050405020304" pitchFamily="18" charset="0"/>
              </a:rPr>
              <a:t>This interface is used for Class Test assessment, where teachers can enter student marks based on CO mapping. The system then calculates the results and provides attainment analysis, reports, and visual charts.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1167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7A78-2244-4EC6-DBC4-21F22742F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F9136-2DA9-DD22-FC94-51C01512844B}"/>
              </a:ext>
            </a:extLst>
          </p:cNvPr>
          <p:cNvSpPr>
            <a:spLocks noGrp="1"/>
          </p:cNvSpPr>
          <p:nvPr>
            <p:ph type="title"/>
          </p:nvPr>
        </p:nvSpPr>
        <p:spPr/>
        <p:txBody>
          <a:bodyPr>
            <a:normAutofit fontScale="90000"/>
          </a:bodyPr>
          <a:lstStyle/>
          <a:p>
            <a:r>
              <a:rPr lang="en-US" dirty="0"/>
              <a:t>6. Results and Applications</a:t>
            </a:r>
          </a:p>
        </p:txBody>
      </p:sp>
      <p:sp>
        <p:nvSpPr>
          <p:cNvPr id="4" name="Date Placeholder 3">
            <a:extLst>
              <a:ext uri="{FF2B5EF4-FFF2-40B4-BE49-F238E27FC236}">
                <a16:creationId xmlns:a16="http://schemas.microsoft.com/office/drawing/2014/main" id="{7F4FD521-85D8-66FC-2C24-C7FD60CBEA1B}"/>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F1A8AB9B-C72A-854A-7B33-E6D5285BBCEE}"/>
              </a:ext>
            </a:extLst>
          </p:cNvPr>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a:extLst>
              <a:ext uri="{FF2B5EF4-FFF2-40B4-BE49-F238E27FC236}">
                <a16:creationId xmlns:a16="http://schemas.microsoft.com/office/drawing/2014/main" id="{DDDC3550-AC85-4D5B-F893-83684F2F72D0}"/>
              </a:ext>
            </a:extLst>
          </p:cNvPr>
          <p:cNvSpPr>
            <a:spLocks noGrp="1"/>
          </p:cNvSpPr>
          <p:nvPr>
            <p:ph type="sldNum" sz="quarter" idx="12"/>
          </p:nvPr>
        </p:nvSpPr>
        <p:spPr/>
        <p:txBody>
          <a:bodyPr/>
          <a:lstStyle/>
          <a:p>
            <a:fld id="{4AF1F8D0-972F-472E-AFE5-1F27E299DB0B}" type="slidenum">
              <a:rPr lang="en-US" smtClean="0"/>
              <a:pPr/>
              <a:t>25</a:t>
            </a:fld>
            <a:endParaRPr lang="en-US"/>
          </a:p>
        </p:txBody>
      </p:sp>
      <p:sp>
        <p:nvSpPr>
          <p:cNvPr id="9" name="Rectangle 8">
            <a:extLst>
              <a:ext uri="{FF2B5EF4-FFF2-40B4-BE49-F238E27FC236}">
                <a16:creationId xmlns:a16="http://schemas.microsoft.com/office/drawing/2014/main" id="{BD55C7FC-4FB8-63F4-DA55-A83520471EA1}"/>
              </a:ext>
            </a:extLst>
          </p:cNvPr>
          <p:cNvSpPr/>
          <p:nvPr/>
        </p:nvSpPr>
        <p:spPr>
          <a:xfrm>
            <a:off x="457200" y="1090218"/>
            <a:ext cx="8229600" cy="5357413"/>
          </a:xfrm>
          <a:prstGeom prst="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1" name="Content Placeholder 10">
            <a:extLst>
              <a:ext uri="{FF2B5EF4-FFF2-40B4-BE49-F238E27FC236}">
                <a16:creationId xmlns:a16="http://schemas.microsoft.com/office/drawing/2014/main" id="{7F98B8E7-E899-7DF9-9D23-A77CE27036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1500" y="1219199"/>
            <a:ext cx="8001000" cy="3883503"/>
          </a:xfrm>
          <a:prstGeom prst="rect">
            <a:avLst/>
          </a:prstGeom>
          <a:solidFill>
            <a:prstClr val="white"/>
          </a:solidFill>
          <a:ln w="25400" cap="flat" cmpd="sng" algn="ctr">
            <a:solidFill>
              <a:srgbClr val="4F81BD"/>
            </a:solidFill>
            <a:prstDash val="solid"/>
          </a:ln>
          <a:effectLst/>
        </p:spPr>
      </p:pic>
      <p:sp>
        <p:nvSpPr>
          <p:cNvPr id="12" name="TextBox 11">
            <a:extLst>
              <a:ext uri="{FF2B5EF4-FFF2-40B4-BE49-F238E27FC236}">
                <a16:creationId xmlns:a16="http://schemas.microsoft.com/office/drawing/2014/main" id="{670966BD-97B1-EC4A-5058-0D113A123B06}"/>
              </a:ext>
            </a:extLst>
          </p:cNvPr>
          <p:cNvSpPr txBox="1"/>
          <p:nvPr/>
        </p:nvSpPr>
        <p:spPr>
          <a:xfrm>
            <a:off x="571500" y="5102703"/>
            <a:ext cx="7886700" cy="1289071"/>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This interface shows the final CO attainment levels calculated from the student marks entered in the assessment. It displays the attainment value for each CO and helps in evaluating the overall performance of students.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957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 Conclusion and future scope</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2000" b="1" u="sng" dirty="0">
                <a:latin typeface="Times New Roman" panose="02020603050405020304" pitchFamily="18" charset="0"/>
                <a:cs typeface="Times New Roman" panose="02020603050405020304" pitchFamily="18" charset="0"/>
              </a:rPr>
              <a:t>Conclusion:-</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The proposed web-based CO attainment system provides a centralized and automated solution for monitoring Faculty Members performance. By allowing faculty to enter, manage and calculate CO data efficiently, the system ensures accurate and timely evaluation of learning outcomes.</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The system also offers graphical visualization for target attainment and actual attainment, helping faculty identify performance gaps to improve Faculty Members performance by manually setting their action plan. Overall, the project saves time, enhances data-driven decision-making, and supports academic contributing to better teaching strategies effectiveness.</a:t>
            </a:r>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dirty="0"/>
              <a:t>CPE –</a:t>
            </a:r>
            <a:r>
              <a:rPr lang="en-IN" dirty="0"/>
              <a:t>316004 </a:t>
            </a:r>
            <a:r>
              <a:rPr lang="en-US" dirty="0"/>
              <a:t>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EC73-08A4-BA03-8579-101B163F3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A13CF-AE49-9333-02C4-6B51F40C4DCC}"/>
              </a:ext>
            </a:extLst>
          </p:cNvPr>
          <p:cNvSpPr>
            <a:spLocks noGrp="1"/>
          </p:cNvSpPr>
          <p:nvPr>
            <p:ph type="title"/>
          </p:nvPr>
        </p:nvSpPr>
        <p:spPr/>
        <p:txBody>
          <a:bodyPr>
            <a:normAutofit fontScale="90000"/>
          </a:bodyPr>
          <a:lstStyle/>
          <a:p>
            <a:r>
              <a:rPr lang="en-US" dirty="0"/>
              <a:t>7. Conclusion and future scope</a:t>
            </a:r>
          </a:p>
        </p:txBody>
      </p:sp>
      <p:sp>
        <p:nvSpPr>
          <p:cNvPr id="3" name="Content Placeholder 2">
            <a:extLst>
              <a:ext uri="{FF2B5EF4-FFF2-40B4-BE49-F238E27FC236}">
                <a16:creationId xmlns:a16="http://schemas.microsoft.com/office/drawing/2014/main" id="{213B1544-21EA-247D-81D7-B40FADAEE4D3}"/>
              </a:ext>
            </a:extLst>
          </p:cNvPr>
          <p:cNvSpPr>
            <a:spLocks noGrp="1"/>
          </p:cNvSpPr>
          <p:nvPr>
            <p:ph idx="1"/>
          </p:nvPr>
        </p:nvSpPr>
        <p:spPr/>
        <p:txBody>
          <a:bodyPr>
            <a:normAutofit/>
          </a:bodyPr>
          <a:lstStyle/>
          <a:p>
            <a:pPr marL="0" indent="0" algn="just">
              <a:lnSpc>
                <a:spcPct val="150000"/>
              </a:lnSpc>
              <a:buNone/>
            </a:pPr>
            <a:r>
              <a:rPr lang="en-US" sz="2000" b="1" u="sng" dirty="0">
                <a:latin typeface="Times New Roman" panose="02020603050405020304" pitchFamily="18" charset="0"/>
                <a:cs typeface="Times New Roman" panose="02020603050405020304" pitchFamily="18" charset="0"/>
              </a:rPr>
              <a:t>Future Scope :-</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In future, the system can be extended to include Program Outcome (PO) and Program Specific Outcome (PSO) attainment for comprehensive academic evaluation. Advanced dashboards can be implemented to provide semester-wise and subject-wise performance trends using enhanced visual analytics. The system can also be enhanced to support student-wise performance analysis for personalized academic monitoring. Additionally, automated action plan recommendations based on identified gaps can be integrated to assist faculty in improving learning outcomes.</a:t>
            </a:r>
          </a:p>
        </p:txBody>
      </p:sp>
      <p:sp>
        <p:nvSpPr>
          <p:cNvPr id="4" name="Date Placeholder 3">
            <a:extLst>
              <a:ext uri="{FF2B5EF4-FFF2-40B4-BE49-F238E27FC236}">
                <a16:creationId xmlns:a16="http://schemas.microsoft.com/office/drawing/2014/main" id="{9F692718-2BBD-ECD6-F081-E370C0C00126}"/>
              </a:ext>
            </a:extLst>
          </p:cNvPr>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a:extLst>
              <a:ext uri="{FF2B5EF4-FFF2-40B4-BE49-F238E27FC236}">
                <a16:creationId xmlns:a16="http://schemas.microsoft.com/office/drawing/2014/main" id="{03ABD9DC-8964-4112-AC80-FAD91BA4DB11}"/>
              </a:ext>
            </a:extLst>
          </p:cNvPr>
          <p:cNvSpPr>
            <a:spLocks noGrp="1"/>
          </p:cNvSpPr>
          <p:nvPr>
            <p:ph type="ftr" sz="quarter" idx="11"/>
          </p:nvPr>
        </p:nvSpPr>
        <p:spPr/>
        <p:txBody>
          <a:bodyPr/>
          <a:lstStyle/>
          <a:p>
            <a:r>
              <a:rPr lang="en-US" dirty="0"/>
              <a:t>CPE – </a:t>
            </a:r>
            <a:r>
              <a:rPr lang="en-IN" dirty="0"/>
              <a:t> 316004</a:t>
            </a:r>
            <a:r>
              <a:rPr lang="en-US" dirty="0"/>
              <a:t> Presentation</a:t>
            </a:r>
          </a:p>
        </p:txBody>
      </p:sp>
      <p:sp>
        <p:nvSpPr>
          <p:cNvPr id="6" name="Slide Number Placeholder 5">
            <a:extLst>
              <a:ext uri="{FF2B5EF4-FFF2-40B4-BE49-F238E27FC236}">
                <a16:creationId xmlns:a16="http://schemas.microsoft.com/office/drawing/2014/main" id="{8D05E5DE-794D-C2B9-C4A8-1F224B5B42BA}"/>
              </a:ext>
            </a:extLst>
          </p:cNvPr>
          <p:cNvSpPr>
            <a:spLocks noGrp="1"/>
          </p:cNvSpPr>
          <p:nvPr>
            <p:ph type="sldNum" sz="quarter" idx="12"/>
          </p:nvPr>
        </p:nvSpPr>
        <p:spPr/>
        <p:txBody>
          <a:bodyPr/>
          <a:lstStyle/>
          <a:p>
            <a:fld id="{4AF1F8D0-972F-472E-AFE5-1F27E299DB0B}" type="slidenum">
              <a:rPr lang="en-US" smtClean="0"/>
              <a:pPr/>
              <a:t>27</a:t>
            </a:fld>
            <a:endParaRPr lang="en-US"/>
          </a:p>
        </p:txBody>
      </p:sp>
    </p:spTree>
    <p:extLst>
      <p:ext uri="{BB962C8B-B14F-4D97-AF65-F5344CB8AC3E}">
        <p14:creationId xmlns:p14="http://schemas.microsoft.com/office/powerpoint/2010/main" val="2530700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 References and Bibliography</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1.     </a:t>
            </a:r>
            <a:r>
              <a:rPr lang="en-US" sz="1800" dirty="0" err="1">
                <a:latin typeface="Times New Roman" panose="02020603050405020304" pitchFamily="18" charset="0"/>
                <a:cs typeface="Times New Roman" panose="02020603050405020304" pitchFamily="18" charset="0"/>
              </a:rPr>
              <a:t>Bhivrabai</a:t>
            </a:r>
            <a:r>
              <a:rPr lang="en-US" sz="1800" dirty="0">
                <a:latin typeface="Times New Roman" panose="02020603050405020304" pitchFamily="18" charset="0"/>
                <a:cs typeface="Times New Roman" panose="02020603050405020304" pitchFamily="18" charset="0"/>
              </a:rPr>
              <a:t> Sawant Polytechnic.(</a:t>
            </a:r>
            <a:r>
              <a:rPr lang="en-US" sz="1800" b="1" dirty="0">
                <a:latin typeface="Times New Roman" panose="02020603050405020304" pitchFamily="18" charset="0"/>
                <a:cs typeface="Times New Roman" panose="02020603050405020304" pitchFamily="18" charset="0"/>
              </a:rPr>
              <a:t>NBA</a:t>
            </a:r>
            <a:r>
              <a:rPr lang="en-US" sz="1800" dirty="0">
                <a:latin typeface="Times New Roman" panose="02020603050405020304" pitchFamily="18" charset="0"/>
                <a:cs typeface="Times New Roman" panose="02020603050405020304" pitchFamily="18" charset="0"/>
              </a:rPr>
              <a:t>- National Board Of </a:t>
            </a:r>
            <a:r>
              <a:rPr lang="en-US" sz="1800" dirty="0" err="1">
                <a:latin typeface="Times New Roman" panose="02020603050405020304" pitchFamily="18" charset="0"/>
                <a:cs typeface="Times New Roman" panose="02020603050405020304" pitchFamily="18" charset="0"/>
              </a:rPr>
              <a:t>Acceredation</a:t>
            </a:r>
            <a:r>
              <a:rPr lang="en-US" sz="18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       Self Assessment Report </a:t>
            </a:r>
            <a:r>
              <a:rPr lang="en-US" sz="1800" b="1" dirty="0">
                <a:latin typeface="Times New Roman" panose="02020603050405020304" pitchFamily="18" charset="0"/>
                <a:cs typeface="Times New Roman" panose="02020603050405020304" pitchFamily="18" charset="0"/>
              </a:rPr>
              <a:t>(SAR) </a:t>
            </a:r>
            <a:r>
              <a:rPr lang="en-US" sz="1800" dirty="0">
                <a:latin typeface="Times New Roman" panose="02020603050405020304" pitchFamily="18" charset="0"/>
                <a:cs typeface="Times New Roman" panose="02020603050405020304" pitchFamily="18" charset="0"/>
              </a:rPr>
              <a:t>– Diploma in Computer Engineering.</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       Department of Computer Engineering, Pune, Maharashtra. </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2.https://www.irjweb.com/CO%20AND%20PO%20ATTAINMENT%20CALCULATOR.pdf</a:t>
            </a:r>
          </a:p>
        </p:txBody>
      </p:sp>
      <p:sp>
        <p:nvSpPr>
          <p:cNvPr id="4" name="Date Placeholder 3"/>
          <p:cNvSpPr>
            <a:spLocks noGrp="1"/>
          </p:cNvSpPr>
          <p:nvPr>
            <p:ph type="dt" sz="half" idx="10"/>
          </p:nvPr>
        </p:nvSpPr>
        <p:spPr/>
        <p:txBody>
          <a:bodyPr/>
          <a:lstStyle/>
          <a:p>
            <a:fld id="{DF4AC57D-2F46-4B8C-ABCB-DBCD3863B507}" type="datetime1">
              <a:rPr lang="en-US" smtClean="0"/>
              <a:pPr/>
              <a:t>3/28/2026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783</TotalTime>
  <Words>1757</Words>
  <Application>Microsoft Office PowerPoint</Application>
  <PresentationFormat>On-screen Show (4:3)</PresentationFormat>
  <Paragraphs>174</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PowerPoint Presentation</vt:lpstr>
      <vt:lpstr>Abstract</vt:lpstr>
      <vt:lpstr>Content</vt:lpstr>
      <vt:lpstr>1. Introduction</vt:lpstr>
      <vt:lpstr>2. Literature Review</vt:lpstr>
      <vt:lpstr>2. Literature Review</vt:lpstr>
      <vt:lpstr>2. Literature Review</vt:lpstr>
      <vt:lpstr>2. Literature Review</vt:lpstr>
      <vt:lpstr>2. Literature Review</vt:lpstr>
      <vt:lpstr>2. Literature Review</vt:lpstr>
      <vt:lpstr>2. Literature Review</vt:lpstr>
      <vt:lpstr>2. Literature Review</vt:lpstr>
      <vt:lpstr>2. Literature Review</vt:lpstr>
      <vt:lpstr>3. Scope of the project</vt:lpstr>
      <vt:lpstr>4. Methodology</vt:lpstr>
      <vt:lpstr>4. Methodology</vt:lpstr>
      <vt:lpstr>5. Details of designs, working &amp; processes</vt:lpstr>
      <vt:lpstr>6. Results and Applications</vt:lpstr>
      <vt:lpstr>6. Results and Applications</vt:lpstr>
      <vt:lpstr>6. Results and Applications</vt:lpstr>
      <vt:lpstr>6. Results and Applications</vt:lpstr>
      <vt:lpstr>6. Results and Applications</vt:lpstr>
      <vt:lpstr>6. Results and Applications</vt:lpstr>
      <vt:lpstr>6. Results and Applications</vt:lpstr>
      <vt:lpstr>6. Results and Applications</vt:lpstr>
      <vt:lpstr>7. Conclusion and future scope</vt:lpstr>
      <vt:lpstr>7. Conclusion and future scope</vt:lpstr>
      <vt:lpstr>8. References and 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ssvps</dc:creator>
  <cp:lastModifiedBy>lenovo</cp:lastModifiedBy>
  <cp:revision>73</cp:revision>
  <dcterms:created xsi:type="dcterms:W3CDTF">2015-09-18T08:45:14Z</dcterms:created>
  <dcterms:modified xsi:type="dcterms:W3CDTF">2026-03-28T07:14:13Z</dcterms:modified>
</cp:coreProperties>
</file>